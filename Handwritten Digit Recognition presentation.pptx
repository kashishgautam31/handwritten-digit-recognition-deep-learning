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6"/>
  </p:notesMasterIdLst>
  <p:sldIdLst>
    <p:sldId id="256" r:id="rId2"/>
    <p:sldId id="270" r:id="rId3"/>
    <p:sldId id="268" r:id="rId4"/>
    <p:sldId id="265" r:id="rId5"/>
    <p:sldId id="258" r:id="rId6"/>
    <p:sldId id="259" r:id="rId7"/>
    <p:sldId id="260" r:id="rId8"/>
    <p:sldId id="261" r:id="rId9"/>
    <p:sldId id="262" r:id="rId10"/>
    <p:sldId id="263" r:id="rId11"/>
    <p:sldId id="264" r:id="rId12"/>
    <p:sldId id="267" r:id="rId13"/>
    <p:sldId id="269"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5356"/>
    <a:srgbClr val="9CA3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34E634-6F0C-F440-875B-C2C4C044B5AC}" v="3" dt="2026-02-23T06:43:17.0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96070" autoAdjust="0"/>
  </p:normalViewPr>
  <p:slideViewPr>
    <p:cSldViewPr snapToGrid="0">
      <p:cViewPr varScale="1">
        <p:scale>
          <a:sx n="99" d="100"/>
          <a:sy n="99" d="100"/>
        </p:scale>
        <p:origin x="230"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ad06ef22-d6dc-4a55-b4c1-c3a158f5f147::" providerId="AD" clId="Web-{7734E634-6F0C-F440-875B-C2C4C044B5AC}"/>
    <pc:docChg chg="modSld">
      <pc:chgData name="Guest User" userId="S::urn:spo:tenantanon#ad06ef22-d6dc-4a55-b4c1-c3a158f5f147::" providerId="AD" clId="Web-{7734E634-6F0C-F440-875B-C2C4C044B5AC}" dt="2026-02-23T06:43:17.031" v="2" actId="20577"/>
      <pc:docMkLst>
        <pc:docMk/>
      </pc:docMkLst>
      <pc:sldChg chg="modSp">
        <pc:chgData name="Guest User" userId="S::urn:spo:tenantanon#ad06ef22-d6dc-4a55-b4c1-c3a158f5f147::" providerId="AD" clId="Web-{7734E634-6F0C-F440-875B-C2C4C044B5AC}" dt="2026-02-23T06:43:17.031" v="2" actId="20577"/>
        <pc:sldMkLst>
          <pc:docMk/>
          <pc:sldMk cId="2277255098" sldId="268"/>
        </pc:sldMkLst>
        <pc:spChg chg="mod">
          <ac:chgData name="Guest User" userId="S::urn:spo:tenantanon#ad06ef22-d6dc-4a55-b4c1-c3a158f5f147::" providerId="AD" clId="Web-{7734E634-6F0C-F440-875B-C2C4C044B5AC}" dt="2026-02-23T06:43:17.031" v="2" actId="20577"/>
          <ac:spMkLst>
            <pc:docMk/>
            <pc:sldMk cId="2277255098" sldId="268"/>
            <ac:spMk id="3" creationId="{DEFFB6BC-B8A2-4F6A-861D-C36B251B727B}"/>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jpeg"/><Relationship Id="rId4" Type="http://schemas.openxmlformats.org/officeDocument/2006/relationships/image" Target="../media/image4.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jpeg"/><Relationship Id="rId4" Type="http://schemas.openxmlformats.org/officeDocument/2006/relationships/image" Target="../media/image4.jpe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F6A618-09FA-4FA9-896D-79F33E5C14FB}" type="doc">
      <dgm:prSet loTypeId="urn:microsoft.com/office/officeart/2005/8/layout/vList5" loCatId="list" qsTypeId="urn:microsoft.com/office/officeart/2005/8/quickstyle/simple1" qsCatId="simple" csTypeId="urn:microsoft.com/office/officeart/2005/8/colors/colorful1" csCatId="colorful"/>
      <dgm:spPr/>
      <dgm:t>
        <a:bodyPr/>
        <a:lstStyle/>
        <a:p>
          <a:endParaRPr lang="en-US"/>
        </a:p>
      </dgm:t>
    </dgm:pt>
    <dgm:pt modelId="{0D63C321-B6BF-4F44-8460-059C4DB479A8}" type="pres">
      <dgm:prSet presAssocID="{21F6A618-09FA-4FA9-896D-79F33E5C14FB}" presName="Name0" presStyleCnt="0">
        <dgm:presLayoutVars>
          <dgm:dir/>
          <dgm:animLvl val="lvl"/>
          <dgm:resizeHandles val="exact"/>
        </dgm:presLayoutVars>
      </dgm:prSet>
      <dgm:spPr/>
      <dgm:t>
        <a:bodyPr/>
        <a:lstStyle/>
        <a:p>
          <a:endParaRPr lang="en-US"/>
        </a:p>
      </dgm:t>
    </dgm:pt>
  </dgm:ptLst>
  <dgm:cxnLst>
    <dgm:cxn modelId="{1BD35A9B-9895-054D-B983-D76CB588D357}" type="presOf" srcId="{21F6A618-09FA-4FA9-896D-79F33E5C14FB}" destId="{0D63C321-B6BF-4F44-8460-059C4DB479A8}"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990C0E-385A-46E1-A872-03852ADA83AA}" type="doc">
      <dgm:prSet loTypeId="urn:microsoft.com/office/officeart/2008/layout/BendingPictureSemiTransparentText" loCatId="picture" qsTypeId="urn:microsoft.com/office/officeart/2005/8/quickstyle/simple1" qsCatId="simple" csTypeId="urn:microsoft.com/office/officeart/2005/8/colors/accent1_2" csCatId="accent1" phldr="1"/>
      <dgm:spPr/>
      <dgm:t>
        <a:bodyPr/>
        <a:lstStyle/>
        <a:p>
          <a:endParaRPr lang="en-US"/>
        </a:p>
      </dgm:t>
    </dgm:pt>
    <dgm:pt modelId="{52DFE429-4D8F-4E83-8247-35E3D421C5BC}">
      <dgm:prSet custT="1"/>
      <dgm:spPr>
        <a:ln>
          <a:solidFill>
            <a:schemeClr val="accent3">
              <a:lumMod val="75000"/>
            </a:schemeClr>
          </a:solidFill>
          <a:extLst>
            <a:ext uri="{C807C97D-BFC1-408E-A445-0C87EB9F89A2}">
              <ask:lineSketchStyleProps xmlns:ask="http://schemas.microsoft.com/office/drawing/2018/sketchyshapes" xmlns="">
                <ask:type>
                  <ask:lineSketchCurved/>
                </ask:type>
              </ask:lineSketchStyleProps>
            </a:ext>
          </a:extLst>
        </a:ln>
      </dgm:spPr>
      <dgm:t>
        <a:bodyPr/>
        <a:lstStyle/>
        <a:p>
          <a:r>
            <a:rPr lang="en-US" sz="2000" dirty="0">
              <a:solidFill>
                <a:schemeClr val="bg1"/>
              </a:solidFill>
            </a:rPr>
            <a:t>Kashish</a:t>
          </a:r>
          <a:r>
            <a:rPr lang="en-US" sz="2000" baseline="0" dirty="0">
              <a:solidFill>
                <a:schemeClr val="bg1"/>
              </a:solidFill>
            </a:rPr>
            <a:t> Gautam</a:t>
          </a:r>
          <a:endParaRPr lang="en-US" sz="2000" dirty="0">
            <a:solidFill>
              <a:schemeClr val="bg1"/>
            </a:solidFill>
          </a:endParaRPr>
        </a:p>
      </dgm:t>
    </dgm:pt>
    <dgm:pt modelId="{8E98556B-D954-4E58-94F6-DB98180A4585}" type="sibTrans" cxnId="{48BC4E36-219E-4C17-9D2E-465B191DCFE4}">
      <dgm:prSet/>
      <dgm:spPr/>
      <dgm:t>
        <a:bodyPr/>
        <a:lstStyle/>
        <a:p>
          <a:endParaRPr lang="en-US"/>
        </a:p>
      </dgm:t>
    </dgm:pt>
    <dgm:pt modelId="{29178585-482F-44F1-8411-EEE4FEB0A18B}" type="parTrans" cxnId="{48BC4E36-219E-4C17-9D2E-465B191DCFE4}">
      <dgm:prSet/>
      <dgm:spPr/>
      <dgm:t>
        <a:bodyPr/>
        <a:lstStyle/>
        <a:p>
          <a:endParaRPr lang="en-US"/>
        </a:p>
      </dgm:t>
    </dgm:pt>
    <dgm:pt modelId="{6E9E8653-8BC8-4C52-A35B-2769E502392D}">
      <dgm:prSet/>
      <dgm:spPr>
        <a:solidFill>
          <a:schemeClr val="accent3">
            <a:lumMod val="75000"/>
            <a:alpha val="40000"/>
          </a:schemeClr>
        </a:solidFill>
        <a:ln>
          <a:solidFill>
            <a:schemeClr val="accent3">
              <a:lumMod val="75000"/>
            </a:schemeClr>
          </a:solidFill>
          <a:extLst>
            <a:ext uri="{C807C97D-BFC1-408E-A445-0C87EB9F89A2}">
              <ask:lineSketchStyleProps xmlns:ask="http://schemas.microsoft.com/office/drawing/2018/sketchyshapes" xmlns="">
                <ask:type>
                  <ask:lineSketchCurved/>
                </ask:type>
              </ask:lineSketchStyleProps>
            </a:ext>
          </a:extLst>
        </a:ln>
      </dgm:spPr>
      <dgm:t>
        <a:bodyPr/>
        <a:lstStyle/>
        <a:p>
          <a:r>
            <a:rPr lang="en-US" dirty="0"/>
            <a:t>Bhoomi</a:t>
          </a:r>
        </a:p>
      </dgm:t>
    </dgm:pt>
    <dgm:pt modelId="{BC7146B3-9BDF-4553-B199-2DB02A9555FA}" type="sibTrans" cxnId="{BE2EDDE4-F6AF-4ADF-B7B8-8B53B7B8A88E}">
      <dgm:prSet/>
      <dgm:spPr/>
      <dgm:t>
        <a:bodyPr/>
        <a:lstStyle/>
        <a:p>
          <a:endParaRPr lang="en-US"/>
        </a:p>
      </dgm:t>
    </dgm:pt>
    <dgm:pt modelId="{82B45140-462E-4C8B-9B25-E35F1EF90BB3}" type="parTrans" cxnId="{BE2EDDE4-F6AF-4ADF-B7B8-8B53B7B8A88E}">
      <dgm:prSet/>
      <dgm:spPr/>
      <dgm:t>
        <a:bodyPr/>
        <a:lstStyle/>
        <a:p>
          <a:endParaRPr lang="en-US"/>
        </a:p>
      </dgm:t>
    </dgm:pt>
    <dgm:pt modelId="{A1F4593A-63D0-42D9-8664-58C36CAF2C13}">
      <dgm:prSet/>
      <dgm:spPr>
        <a:ln>
          <a:solidFill>
            <a:schemeClr val="accent3">
              <a:lumMod val="75000"/>
            </a:schemeClr>
          </a:solidFill>
          <a:extLst>
            <a:ext uri="{C807C97D-BFC1-408E-A445-0C87EB9F89A2}">
              <ask:lineSketchStyleProps xmlns:ask="http://schemas.microsoft.com/office/drawing/2018/sketchyshapes" xmlns="">
                <ask:type>
                  <ask:lineSketchCurved/>
                </ask:type>
              </ask:lineSketchStyleProps>
            </a:ext>
          </a:extLst>
        </a:ln>
      </dgm:spPr>
      <dgm:t>
        <a:bodyPr/>
        <a:lstStyle/>
        <a:p>
          <a:r>
            <a:rPr lang="en-US" dirty="0"/>
            <a:t> </a:t>
          </a:r>
          <a:r>
            <a:rPr lang="en-US" dirty="0">
              <a:solidFill>
                <a:schemeClr val="tx1"/>
              </a:solidFill>
              <a:latin typeface="Times New Roman" panose="02020603050405020304" pitchFamily="18" charset="0"/>
              <a:cs typeface="Times New Roman" panose="02020603050405020304" pitchFamily="18" charset="0"/>
            </a:rPr>
            <a:t>Khushi Khasyap</a:t>
          </a:r>
          <a:endParaRPr lang="en-US" dirty="0"/>
        </a:p>
      </dgm:t>
    </dgm:pt>
    <dgm:pt modelId="{43EB3D60-2164-4D24-99E6-B02D2AEDF85E}" type="sibTrans" cxnId="{F903AA03-30E0-4EE0-8539-3BC273F6D75B}">
      <dgm:prSet/>
      <dgm:spPr/>
      <dgm:t>
        <a:bodyPr/>
        <a:lstStyle/>
        <a:p>
          <a:endParaRPr lang="en-US"/>
        </a:p>
      </dgm:t>
    </dgm:pt>
    <dgm:pt modelId="{9E62E5F5-4180-43BA-94E5-A93CA903CBDE}" type="parTrans" cxnId="{F903AA03-30E0-4EE0-8539-3BC273F6D75B}">
      <dgm:prSet/>
      <dgm:spPr/>
      <dgm:t>
        <a:bodyPr/>
        <a:lstStyle/>
        <a:p>
          <a:endParaRPr lang="en-US"/>
        </a:p>
      </dgm:t>
    </dgm:pt>
    <dgm:pt modelId="{2A6E1FD2-C312-44E0-8D4F-62D0B25DEF3D}">
      <dgm:prSet/>
      <dgm:spPr>
        <a:noFill/>
        <a:ln>
          <a:solidFill>
            <a:schemeClr val="accent3">
              <a:lumMod val="75000"/>
            </a:schemeClr>
          </a:solidFill>
          <a:extLst>
            <a:ext uri="{C807C97D-BFC1-408E-A445-0C87EB9F89A2}">
              <ask:lineSketchStyleProps xmlns:ask="http://schemas.microsoft.com/office/drawing/2018/sketchyshapes" xmlns="">
                <ask:type>
                  <ask:lineSketchCurved/>
                </ask:type>
              </ask:lineSketchStyleProps>
            </a:ext>
          </a:extLst>
        </a:ln>
        <a:effectLst>
          <a:outerShdw blurRad="50800" dist="50800" dir="5400000" algn="ctr" rotWithShape="0">
            <a:srgbClr val="000000">
              <a:alpha val="60000"/>
            </a:srgbClr>
          </a:outerShdw>
        </a:effectLst>
      </dgm:spPr>
      <dgm:t>
        <a:bodyPr/>
        <a:lstStyle/>
        <a:p>
          <a:r>
            <a:rPr lang="en-US" b="1" dirty="0">
              <a:solidFill>
                <a:schemeClr val="tx1"/>
              </a:solidFill>
              <a:latin typeface="Times New Roman" panose="02020603050405020304" pitchFamily="18" charset="0"/>
              <a:cs typeface="Times New Roman" panose="02020603050405020304" pitchFamily="18" charset="0"/>
            </a:rPr>
            <a:t>Ashi</a:t>
          </a:r>
        </a:p>
      </dgm:t>
    </dgm:pt>
    <dgm:pt modelId="{7161A157-77DD-4654-83AD-85053500904D}" type="sibTrans" cxnId="{B83602C7-9F62-4F8B-A8CB-890C8908B36E}">
      <dgm:prSet/>
      <dgm:spPr/>
      <dgm:t>
        <a:bodyPr/>
        <a:lstStyle/>
        <a:p>
          <a:endParaRPr lang="en-US"/>
        </a:p>
      </dgm:t>
    </dgm:pt>
    <dgm:pt modelId="{44F95057-5241-437B-867E-E88C19DED002}" type="parTrans" cxnId="{B83602C7-9F62-4F8B-A8CB-890C8908B36E}">
      <dgm:prSet/>
      <dgm:spPr/>
      <dgm:t>
        <a:bodyPr/>
        <a:lstStyle/>
        <a:p>
          <a:endParaRPr lang="en-US"/>
        </a:p>
      </dgm:t>
    </dgm:pt>
    <dgm:pt modelId="{E51EB8E7-DD72-46C1-B39A-364CA3CDCF01}" type="pres">
      <dgm:prSet presAssocID="{D4990C0E-385A-46E1-A872-03852ADA83AA}" presName="Name0" presStyleCnt="0">
        <dgm:presLayoutVars>
          <dgm:dir/>
          <dgm:resizeHandles val="exact"/>
        </dgm:presLayoutVars>
      </dgm:prSet>
      <dgm:spPr/>
      <dgm:t>
        <a:bodyPr/>
        <a:lstStyle/>
        <a:p>
          <a:endParaRPr lang="en-US"/>
        </a:p>
      </dgm:t>
    </dgm:pt>
    <dgm:pt modelId="{9B283DD1-F684-445E-A8B5-7FFD75260CAB}" type="pres">
      <dgm:prSet presAssocID="{2A6E1FD2-C312-44E0-8D4F-62D0B25DEF3D}" presName="composite" presStyleCnt="0"/>
      <dgm:spPr/>
    </dgm:pt>
    <dgm:pt modelId="{31B2C2FD-2E8E-46DF-BBEC-7E89A21861D6}" type="pres">
      <dgm:prSet presAssocID="{2A6E1FD2-C312-44E0-8D4F-62D0B25DEF3D}" presName="rect1" presStyleLbl="bgShp" presStyleIdx="0" presStyleCnt="4" custLinFactX="14242" custLinFactNeighborX="100000" custLinFactNeighborY="-4841"/>
      <dgm:spPr>
        <a:blipFill>
          <a:blip xmlns:r="http://schemas.openxmlformats.org/officeDocument/2006/relationships" r:embed="rId1"/>
          <a:srcRect/>
          <a:stretch>
            <a:fillRect t="-11000" b="-11000"/>
          </a:stretch>
        </a:blipFill>
      </dgm:spPr>
    </dgm:pt>
    <dgm:pt modelId="{244603A0-6E4C-43F7-8EA3-82CF4D464933}" type="pres">
      <dgm:prSet presAssocID="{2A6E1FD2-C312-44E0-8D4F-62D0B25DEF3D}" presName="rect2" presStyleLbl="trBgShp" presStyleIdx="0" presStyleCnt="4" custScaleX="100000" custScaleY="70272" custLinFactNeighborX="2347" custLinFactNeighborY="17583">
        <dgm:presLayoutVars>
          <dgm:bulletEnabled val="1"/>
        </dgm:presLayoutVars>
      </dgm:prSet>
      <dgm:spPr/>
      <dgm:t>
        <a:bodyPr/>
        <a:lstStyle/>
        <a:p>
          <a:endParaRPr lang="en-US"/>
        </a:p>
      </dgm:t>
    </dgm:pt>
    <dgm:pt modelId="{202170CC-365C-4198-8C12-0919EB3DC229}" type="pres">
      <dgm:prSet presAssocID="{7161A157-77DD-4654-83AD-85053500904D}" presName="sibTrans" presStyleCnt="0"/>
      <dgm:spPr/>
    </dgm:pt>
    <dgm:pt modelId="{53FF62FF-A0A1-4EA0-9B3D-C59EDFD13FC9}" type="pres">
      <dgm:prSet presAssocID="{52DFE429-4D8F-4E83-8247-35E3D421C5BC}" presName="composite" presStyleCnt="0"/>
      <dgm:spPr/>
    </dgm:pt>
    <dgm:pt modelId="{0205B927-6FCD-48F4-B5CB-61E08D0B1DC7}" type="pres">
      <dgm:prSet presAssocID="{52DFE429-4D8F-4E83-8247-35E3D421C5BC}" presName="rect1" presStyleLbl="bgShp" presStyleIdx="1" presStyleCnt="4" custScaleY="83347" custLinFactX="-11496" custLinFactNeighborX="-100000" custLinFactNeighborY="-26695"/>
      <dgm:spPr>
        <a:blipFill rotWithShape="1">
          <a:blip xmlns:r="http://schemas.openxmlformats.org/officeDocument/2006/relationships" r:embed="rId2"/>
          <a:stretch>
            <a:fillRect/>
          </a:stretch>
        </a:blipFill>
      </dgm:spPr>
    </dgm:pt>
    <dgm:pt modelId="{1C170DB8-1B1C-4904-A41A-141F44C4B928}" type="pres">
      <dgm:prSet presAssocID="{52DFE429-4D8F-4E83-8247-35E3D421C5BC}" presName="rect2" presStyleLbl="trBgShp" presStyleIdx="1" presStyleCnt="4" custScaleY="83043" custLinFactNeighborX="-961" custLinFactNeighborY="15953">
        <dgm:presLayoutVars>
          <dgm:bulletEnabled val="1"/>
        </dgm:presLayoutVars>
      </dgm:prSet>
      <dgm:spPr/>
      <dgm:t>
        <a:bodyPr/>
        <a:lstStyle/>
        <a:p>
          <a:endParaRPr lang="en-US"/>
        </a:p>
      </dgm:t>
    </dgm:pt>
    <dgm:pt modelId="{FC86206A-F1F4-4413-9358-F5DB48E5964D}" type="pres">
      <dgm:prSet presAssocID="{8E98556B-D954-4E58-94F6-DB98180A4585}" presName="sibTrans" presStyleCnt="0"/>
      <dgm:spPr/>
    </dgm:pt>
    <dgm:pt modelId="{D33AF38E-8E2B-494E-8442-160A35084E7D}" type="pres">
      <dgm:prSet presAssocID="{6E9E8653-8BC8-4C52-A35B-2769E502392D}" presName="composite" presStyleCnt="0"/>
      <dgm:spPr/>
    </dgm:pt>
    <dgm:pt modelId="{21CA5776-F04D-4D27-BE76-A00E5A36C5E0}" type="pres">
      <dgm:prSet presAssocID="{6E9E8653-8BC8-4C52-A35B-2769E502392D}" presName="rect1" presStyleLbl="bgShp" presStyleIdx="2" presStyleCnt="4" custLinFactNeighborX="808" custLinFactNeighborY="87858"/>
      <dgm:spPr>
        <a:blipFill>
          <a:blip xmlns:r="http://schemas.openxmlformats.org/officeDocument/2006/relationships" r:embed="rId3"/>
          <a:srcRect/>
          <a:stretch>
            <a:fillRect t="-17000" b="-17000"/>
          </a:stretch>
        </a:blipFill>
      </dgm:spPr>
    </dgm:pt>
    <dgm:pt modelId="{AB53B20B-C6D5-4022-A9C6-6CE1E16884D9}" type="pres">
      <dgm:prSet presAssocID="{6E9E8653-8BC8-4C52-A35B-2769E502392D}" presName="rect2" presStyleLbl="trBgShp" presStyleIdx="2" presStyleCnt="4" custLinFactNeighborX="1864" custLinFactNeighborY="21354">
        <dgm:presLayoutVars>
          <dgm:bulletEnabled val="1"/>
        </dgm:presLayoutVars>
      </dgm:prSet>
      <dgm:spPr/>
      <dgm:t>
        <a:bodyPr/>
        <a:lstStyle/>
        <a:p>
          <a:endParaRPr lang="en-US"/>
        </a:p>
      </dgm:t>
    </dgm:pt>
    <dgm:pt modelId="{F18DCEA1-5B3E-48CE-BDE6-5EAF15664396}" type="pres">
      <dgm:prSet presAssocID="{BC7146B3-9BDF-4553-B199-2DB02A9555FA}" presName="sibTrans" presStyleCnt="0"/>
      <dgm:spPr/>
    </dgm:pt>
    <dgm:pt modelId="{AE8FB2BF-E2E5-4304-BFFA-E38E960B35B3}" type="pres">
      <dgm:prSet presAssocID="{A1F4593A-63D0-42D9-8664-58C36CAF2C13}" presName="composite" presStyleCnt="0"/>
      <dgm:spPr/>
    </dgm:pt>
    <dgm:pt modelId="{195559A7-AD80-4976-A6E3-13710BA98B71}" type="pres">
      <dgm:prSet presAssocID="{A1F4593A-63D0-42D9-8664-58C36CAF2C13}" presName="rect1" presStyleLbl="bgShp" presStyleIdx="3" presStyleCnt="4" custLinFactNeighborX="2449" custLinFactNeighborY="1633"/>
      <dgm:spPr>
        <a:blipFill>
          <a:blip xmlns:r="http://schemas.openxmlformats.org/officeDocument/2006/relationships" r:embed="rId4"/>
          <a:srcRect/>
          <a:stretch>
            <a:fillRect t="-80000" b="-80000"/>
          </a:stretch>
        </a:blipFill>
      </dgm:spPr>
    </dgm:pt>
    <dgm:pt modelId="{8D7B03B8-B727-4DB5-ADEC-DDBD2B38903B}" type="pres">
      <dgm:prSet presAssocID="{A1F4593A-63D0-42D9-8664-58C36CAF2C13}" presName="rect2" presStyleLbl="trBgShp" presStyleIdx="3" presStyleCnt="4" custScaleY="113972" custLinFactNeighborX="438" custLinFactNeighborY="38361">
        <dgm:presLayoutVars>
          <dgm:bulletEnabled val="1"/>
        </dgm:presLayoutVars>
      </dgm:prSet>
      <dgm:spPr/>
      <dgm:t>
        <a:bodyPr/>
        <a:lstStyle/>
        <a:p>
          <a:endParaRPr lang="en-US"/>
        </a:p>
      </dgm:t>
    </dgm:pt>
  </dgm:ptLst>
  <dgm:cxnLst>
    <dgm:cxn modelId="{B83602C7-9F62-4F8B-A8CB-890C8908B36E}" srcId="{D4990C0E-385A-46E1-A872-03852ADA83AA}" destId="{2A6E1FD2-C312-44E0-8D4F-62D0B25DEF3D}" srcOrd="0" destOrd="0" parTransId="{44F95057-5241-437B-867E-E88C19DED002}" sibTransId="{7161A157-77DD-4654-83AD-85053500904D}"/>
    <dgm:cxn modelId="{1F96EBE2-BD2C-45F6-A051-87CF3807C652}" type="presOf" srcId="{D4990C0E-385A-46E1-A872-03852ADA83AA}" destId="{E51EB8E7-DD72-46C1-B39A-364CA3CDCF01}" srcOrd="0" destOrd="0" presId="urn:microsoft.com/office/officeart/2008/layout/BendingPictureSemiTransparentText"/>
    <dgm:cxn modelId="{515467BC-83B3-499E-938E-3CEA2F3316DE}" type="presOf" srcId="{6E9E8653-8BC8-4C52-A35B-2769E502392D}" destId="{AB53B20B-C6D5-4022-A9C6-6CE1E16884D9}" srcOrd="0" destOrd="0" presId="urn:microsoft.com/office/officeart/2008/layout/BendingPictureSemiTransparentText"/>
    <dgm:cxn modelId="{DC4E32FA-006A-47D3-A4BA-AC04A90969A7}" type="presOf" srcId="{A1F4593A-63D0-42D9-8664-58C36CAF2C13}" destId="{8D7B03B8-B727-4DB5-ADEC-DDBD2B38903B}" srcOrd="0" destOrd="0" presId="urn:microsoft.com/office/officeart/2008/layout/BendingPictureSemiTransparentText"/>
    <dgm:cxn modelId="{D7F5EF9E-DC55-424B-9B43-131DD7BBDF44}" type="presOf" srcId="{52DFE429-4D8F-4E83-8247-35E3D421C5BC}" destId="{1C170DB8-1B1C-4904-A41A-141F44C4B928}" srcOrd="0" destOrd="0" presId="urn:microsoft.com/office/officeart/2008/layout/BendingPictureSemiTransparentText"/>
    <dgm:cxn modelId="{0A2C2AA1-2836-4CB6-B864-E9B1A6707ED2}" type="presOf" srcId="{2A6E1FD2-C312-44E0-8D4F-62D0B25DEF3D}" destId="{244603A0-6E4C-43F7-8EA3-82CF4D464933}" srcOrd="0" destOrd="0" presId="urn:microsoft.com/office/officeart/2008/layout/BendingPictureSemiTransparentText"/>
    <dgm:cxn modelId="{BE2EDDE4-F6AF-4ADF-B7B8-8B53B7B8A88E}" srcId="{D4990C0E-385A-46E1-A872-03852ADA83AA}" destId="{6E9E8653-8BC8-4C52-A35B-2769E502392D}" srcOrd="2" destOrd="0" parTransId="{82B45140-462E-4C8B-9B25-E35F1EF90BB3}" sibTransId="{BC7146B3-9BDF-4553-B199-2DB02A9555FA}"/>
    <dgm:cxn modelId="{48BC4E36-219E-4C17-9D2E-465B191DCFE4}" srcId="{D4990C0E-385A-46E1-A872-03852ADA83AA}" destId="{52DFE429-4D8F-4E83-8247-35E3D421C5BC}" srcOrd="1" destOrd="0" parTransId="{29178585-482F-44F1-8411-EEE4FEB0A18B}" sibTransId="{8E98556B-D954-4E58-94F6-DB98180A4585}"/>
    <dgm:cxn modelId="{F903AA03-30E0-4EE0-8539-3BC273F6D75B}" srcId="{D4990C0E-385A-46E1-A872-03852ADA83AA}" destId="{A1F4593A-63D0-42D9-8664-58C36CAF2C13}" srcOrd="3" destOrd="0" parTransId="{9E62E5F5-4180-43BA-94E5-A93CA903CBDE}" sibTransId="{43EB3D60-2164-4D24-99E6-B02D2AEDF85E}"/>
    <dgm:cxn modelId="{7DFDA842-A404-4933-8BC2-5E281CFB1CBB}" type="presParOf" srcId="{E51EB8E7-DD72-46C1-B39A-364CA3CDCF01}" destId="{9B283DD1-F684-445E-A8B5-7FFD75260CAB}" srcOrd="0" destOrd="0" presId="urn:microsoft.com/office/officeart/2008/layout/BendingPictureSemiTransparentText"/>
    <dgm:cxn modelId="{2B3EAB17-63BC-40E5-8BF4-0A2B67FF056F}" type="presParOf" srcId="{9B283DD1-F684-445E-A8B5-7FFD75260CAB}" destId="{31B2C2FD-2E8E-46DF-BBEC-7E89A21861D6}" srcOrd="0" destOrd="0" presId="urn:microsoft.com/office/officeart/2008/layout/BendingPictureSemiTransparentText"/>
    <dgm:cxn modelId="{76179C09-8A84-4AA3-8D9E-1D262457E469}" type="presParOf" srcId="{9B283DD1-F684-445E-A8B5-7FFD75260CAB}" destId="{244603A0-6E4C-43F7-8EA3-82CF4D464933}" srcOrd="1" destOrd="0" presId="urn:microsoft.com/office/officeart/2008/layout/BendingPictureSemiTransparentText"/>
    <dgm:cxn modelId="{A59CD892-72D7-478A-BD01-324B360B57CE}" type="presParOf" srcId="{E51EB8E7-DD72-46C1-B39A-364CA3CDCF01}" destId="{202170CC-365C-4198-8C12-0919EB3DC229}" srcOrd="1" destOrd="0" presId="urn:microsoft.com/office/officeart/2008/layout/BendingPictureSemiTransparentText"/>
    <dgm:cxn modelId="{894113ED-8B90-4A11-A3E4-18FE9A937D93}" type="presParOf" srcId="{E51EB8E7-DD72-46C1-B39A-364CA3CDCF01}" destId="{53FF62FF-A0A1-4EA0-9B3D-C59EDFD13FC9}" srcOrd="2" destOrd="0" presId="urn:microsoft.com/office/officeart/2008/layout/BendingPictureSemiTransparentText"/>
    <dgm:cxn modelId="{1A9F1CD5-E772-4BEC-AA20-D8990A6C108F}" type="presParOf" srcId="{53FF62FF-A0A1-4EA0-9B3D-C59EDFD13FC9}" destId="{0205B927-6FCD-48F4-B5CB-61E08D0B1DC7}" srcOrd="0" destOrd="0" presId="urn:microsoft.com/office/officeart/2008/layout/BendingPictureSemiTransparentText"/>
    <dgm:cxn modelId="{42036288-0E24-4561-AD7C-2E6B2CF21737}" type="presParOf" srcId="{53FF62FF-A0A1-4EA0-9B3D-C59EDFD13FC9}" destId="{1C170DB8-1B1C-4904-A41A-141F44C4B928}" srcOrd="1" destOrd="0" presId="urn:microsoft.com/office/officeart/2008/layout/BendingPictureSemiTransparentText"/>
    <dgm:cxn modelId="{D44CC28D-7DA1-4239-8435-0CFCA4FF7889}" type="presParOf" srcId="{E51EB8E7-DD72-46C1-B39A-364CA3CDCF01}" destId="{FC86206A-F1F4-4413-9358-F5DB48E5964D}" srcOrd="3" destOrd="0" presId="urn:microsoft.com/office/officeart/2008/layout/BendingPictureSemiTransparentText"/>
    <dgm:cxn modelId="{A2A61AC4-000E-4657-9836-A2D85B4D456A}" type="presParOf" srcId="{E51EB8E7-DD72-46C1-B39A-364CA3CDCF01}" destId="{D33AF38E-8E2B-494E-8442-160A35084E7D}" srcOrd="4" destOrd="0" presId="urn:microsoft.com/office/officeart/2008/layout/BendingPictureSemiTransparentText"/>
    <dgm:cxn modelId="{CCC27C40-312B-4C00-8925-253B6442EF6A}" type="presParOf" srcId="{D33AF38E-8E2B-494E-8442-160A35084E7D}" destId="{21CA5776-F04D-4D27-BE76-A00E5A36C5E0}" srcOrd="0" destOrd="0" presId="urn:microsoft.com/office/officeart/2008/layout/BendingPictureSemiTransparentText"/>
    <dgm:cxn modelId="{156A8D4C-BC22-47DF-A583-67D5CA269DE9}" type="presParOf" srcId="{D33AF38E-8E2B-494E-8442-160A35084E7D}" destId="{AB53B20B-C6D5-4022-A9C6-6CE1E16884D9}" srcOrd="1" destOrd="0" presId="urn:microsoft.com/office/officeart/2008/layout/BendingPictureSemiTransparentText"/>
    <dgm:cxn modelId="{5641CD66-C5C9-4941-B5CC-88AD5AE15BA2}" type="presParOf" srcId="{E51EB8E7-DD72-46C1-B39A-364CA3CDCF01}" destId="{F18DCEA1-5B3E-48CE-BDE6-5EAF15664396}" srcOrd="5" destOrd="0" presId="urn:microsoft.com/office/officeart/2008/layout/BendingPictureSemiTransparentText"/>
    <dgm:cxn modelId="{F5B7A06B-0001-4C4D-AD16-D3C5465847FD}" type="presParOf" srcId="{E51EB8E7-DD72-46C1-B39A-364CA3CDCF01}" destId="{AE8FB2BF-E2E5-4304-BFFA-E38E960B35B3}" srcOrd="6" destOrd="0" presId="urn:microsoft.com/office/officeart/2008/layout/BendingPictureSemiTransparentText"/>
    <dgm:cxn modelId="{9B5594D1-F8FF-4296-B027-517AED1F4A46}" type="presParOf" srcId="{AE8FB2BF-E2E5-4304-BFFA-E38E960B35B3}" destId="{195559A7-AD80-4976-A6E3-13710BA98B71}" srcOrd="0" destOrd="0" presId="urn:microsoft.com/office/officeart/2008/layout/BendingPictureSemiTransparentText"/>
    <dgm:cxn modelId="{2606987A-0065-40CE-8C77-87A5E1280A7D}" type="presParOf" srcId="{AE8FB2BF-E2E5-4304-BFFA-E38E960B35B3}" destId="{8D7B03B8-B727-4DB5-ADEC-DDBD2B38903B}" srcOrd="1" destOrd="0" presId="urn:microsoft.com/office/officeart/2008/layout/BendingPictureSemiTransparentTex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B2C2FD-2E8E-46DF-BBEC-7E89A21861D6}">
      <dsp:nvSpPr>
        <dsp:cNvPr id="0" name=""/>
        <dsp:cNvSpPr/>
      </dsp:nvSpPr>
      <dsp:spPr>
        <a:xfrm>
          <a:off x="2553006" y="0"/>
          <a:ext cx="2312993" cy="1982508"/>
        </a:xfrm>
        <a:prstGeom prst="rect">
          <a:avLst/>
        </a:prstGeom>
        <a:blipFill>
          <a:blip xmlns:r="http://schemas.openxmlformats.org/officeDocument/2006/relationships" r:embed="rId1"/>
          <a:srcRect/>
          <a:stretch>
            <a:fillRect t="-11000" b="-11000"/>
          </a:stretch>
        </a:blipFill>
        <a:ln>
          <a:noFill/>
        </a:ln>
        <a:effectLst/>
      </dsp:spPr>
      <dsp:style>
        <a:lnRef idx="0">
          <a:scrgbClr r="0" g="0" b="0"/>
        </a:lnRef>
        <a:fillRef idx="1">
          <a:scrgbClr r="0" g="0" b="0"/>
        </a:fillRef>
        <a:effectRef idx="0">
          <a:scrgbClr r="0" g="0" b="0"/>
        </a:effectRef>
        <a:fontRef idx="minor"/>
      </dsp:style>
    </dsp:sp>
    <dsp:sp modelId="{244603A0-6E4C-43F7-8EA3-82CF4D464933}">
      <dsp:nvSpPr>
        <dsp:cNvPr id="0" name=""/>
        <dsp:cNvSpPr/>
      </dsp:nvSpPr>
      <dsp:spPr>
        <a:xfrm>
          <a:off x="56333" y="1608255"/>
          <a:ext cx="2312993" cy="334355"/>
        </a:xfrm>
        <a:prstGeom prst="rect">
          <a:avLst/>
        </a:prstGeom>
        <a:noFill/>
        <a:ln>
          <a:solidFill>
            <a:schemeClr val="accent3">
              <a:lumMod val="75000"/>
            </a:schemeClr>
          </a:solidFill>
          <a:extLst>
            <a:ext uri="{C807C97D-BFC1-408E-A445-0C87EB9F89A2}">
              <ask:lineSketchStyleProps xmlns:ask="http://schemas.microsoft.com/office/drawing/2018/sketchyshapes" xmlns="">
                <ask:type>
                  <ask:lineSketchCurved/>
                </ask:type>
              </ask:lineSketchStyleProps>
            </a:ext>
          </a:extLst>
        </a:ln>
        <a:effectLst>
          <a:outerShdw blurRad="50800" dist="50800" dir="5400000" algn="ctr" rotWithShape="0">
            <a:srgbClr val="000000">
              <a:alpha val="60000"/>
            </a:srgbClr>
          </a:outerShdw>
        </a:effectLst>
      </dsp:spPr>
      <dsp:style>
        <a:lnRef idx="0">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b="1" kern="1200" dirty="0">
              <a:solidFill>
                <a:schemeClr val="tx1"/>
              </a:solidFill>
              <a:latin typeface="Times New Roman" panose="02020603050405020304" pitchFamily="18" charset="0"/>
              <a:cs typeface="Times New Roman" panose="02020603050405020304" pitchFamily="18" charset="0"/>
            </a:rPr>
            <a:t>Ashi</a:t>
          </a:r>
        </a:p>
      </dsp:txBody>
      <dsp:txXfrm>
        <a:off x="56333" y="1608255"/>
        <a:ext cx="2312993" cy="334355"/>
      </dsp:txXfrm>
    </dsp:sp>
    <dsp:sp modelId="{0205B927-6FCD-48F4-B5CB-61E08D0B1DC7}">
      <dsp:nvSpPr>
        <dsp:cNvPr id="0" name=""/>
        <dsp:cNvSpPr/>
      </dsp:nvSpPr>
      <dsp:spPr>
        <a:xfrm>
          <a:off x="0" y="0"/>
          <a:ext cx="2312993" cy="1652361"/>
        </a:xfrm>
        <a:prstGeom prst="rect">
          <a:avLst/>
        </a:prstGeom>
        <a:blipFill rotWithShape="1">
          <a:blip xmlns:r="http://schemas.openxmlformats.org/officeDocument/2006/relationships" r:embed="rId2"/>
          <a:stretch>
            <a:fillRect/>
          </a:stretch>
        </a:blipFill>
        <a:ln>
          <a:noFill/>
        </a:ln>
        <a:effectLst/>
      </dsp:spPr>
      <dsp:style>
        <a:lnRef idx="0">
          <a:scrgbClr r="0" g="0" b="0"/>
        </a:lnRef>
        <a:fillRef idx="1">
          <a:scrgbClr r="0" g="0" b="0"/>
        </a:fillRef>
        <a:effectRef idx="0">
          <a:scrgbClr r="0" g="0" b="0"/>
        </a:effectRef>
        <a:fontRef idx="minor"/>
      </dsp:style>
    </dsp:sp>
    <dsp:sp modelId="{1C170DB8-1B1C-4904-A41A-141F44C4B928}">
      <dsp:nvSpPr>
        <dsp:cNvPr id="0" name=""/>
        <dsp:cNvSpPr/>
      </dsp:nvSpPr>
      <dsp:spPr>
        <a:xfrm>
          <a:off x="2528731" y="1567226"/>
          <a:ext cx="2312993" cy="395120"/>
        </a:xfrm>
        <a:prstGeom prst="rect">
          <a:avLst/>
        </a:prstGeom>
        <a:solidFill>
          <a:schemeClr val="accent1">
            <a:tint val="50000"/>
            <a:alpha val="40000"/>
            <a:hueOff val="0"/>
            <a:satOff val="0"/>
            <a:lumOff val="0"/>
            <a:alphaOff val="0"/>
          </a:schemeClr>
        </a:solidFill>
        <a:ln>
          <a:solidFill>
            <a:schemeClr val="accent3">
              <a:lumMod val="75000"/>
            </a:schemeClr>
          </a:solidFill>
          <a:extLst>
            <a:ext uri="{C807C97D-BFC1-408E-A445-0C87EB9F89A2}">
              <ask:lineSketchStyleProps xmlns:ask="http://schemas.microsoft.com/office/drawing/2018/sketchyshapes" xmlns="">
                <ask:type>
                  <ask:lineSketchCurved/>
                </ask:type>
              </ask:lineSketchStyleProps>
            </a:ext>
          </a:extLst>
        </a:ln>
        <a:effectLst/>
      </dsp:spPr>
      <dsp:style>
        <a:lnRef idx="0">
          <a:scrgbClr r="0" g="0" b="0"/>
        </a:lnRef>
        <a:fillRef idx="1">
          <a:scrgbClr r="0" g="0" b="0"/>
        </a:fillRef>
        <a:effectRef idx="0">
          <a:scrgbClr r="0" g="0" b="0"/>
        </a:effectRef>
        <a:fontRef idx="minor"/>
      </dsp:style>
      <dsp:txBody>
        <a:bodyPr spcFirstLastPara="0" vert="horz" wrap="square" lIns="50800" tIns="50800" rIns="50800" bIns="50800" numCol="1" spcCol="1270" anchor="ctr" anchorCtr="0">
          <a:noAutofit/>
        </a:bodyPr>
        <a:lstStyle/>
        <a:p>
          <a:pPr lvl="0" algn="ctr" defTabSz="889000">
            <a:lnSpc>
              <a:spcPct val="90000"/>
            </a:lnSpc>
            <a:spcBef>
              <a:spcPct val="0"/>
            </a:spcBef>
            <a:spcAft>
              <a:spcPct val="35000"/>
            </a:spcAft>
          </a:pPr>
          <a:r>
            <a:rPr lang="en-US" sz="2000" kern="1200" dirty="0">
              <a:solidFill>
                <a:schemeClr val="bg1"/>
              </a:solidFill>
            </a:rPr>
            <a:t>Kashish</a:t>
          </a:r>
          <a:r>
            <a:rPr lang="en-US" sz="2000" kern="1200" baseline="0" dirty="0">
              <a:solidFill>
                <a:schemeClr val="bg1"/>
              </a:solidFill>
            </a:rPr>
            <a:t> Gautam</a:t>
          </a:r>
          <a:endParaRPr lang="en-US" sz="2000" kern="1200" dirty="0">
            <a:solidFill>
              <a:schemeClr val="bg1"/>
            </a:solidFill>
          </a:endParaRPr>
        </a:p>
      </dsp:txBody>
      <dsp:txXfrm>
        <a:off x="2528731" y="1567226"/>
        <a:ext cx="2312993" cy="395120"/>
      </dsp:txXfrm>
    </dsp:sp>
    <dsp:sp modelId="{21CA5776-F04D-4D27-BE76-A00E5A36C5E0}">
      <dsp:nvSpPr>
        <dsp:cNvPr id="0" name=""/>
        <dsp:cNvSpPr/>
      </dsp:nvSpPr>
      <dsp:spPr>
        <a:xfrm>
          <a:off x="20736" y="2346039"/>
          <a:ext cx="2312993" cy="1982508"/>
        </a:xfrm>
        <a:prstGeom prst="rect">
          <a:avLst/>
        </a:prstGeom>
        <a:blipFill>
          <a:blip xmlns:r="http://schemas.openxmlformats.org/officeDocument/2006/relationships" r:embed="rId3"/>
          <a:srcRect/>
          <a:stretch>
            <a:fillRect t="-17000" b="-17000"/>
          </a:stretch>
        </a:blipFill>
        <a:ln>
          <a:noFill/>
        </a:ln>
        <a:effectLst/>
      </dsp:spPr>
      <dsp:style>
        <a:lnRef idx="0">
          <a:scrgbClr r="0" g="0" b="0"/>
        </a:lnRef>
        <a:fillRef idx="1">
          <a:scrgbClr r="0" g="0" b="0"/>
        </a:fillRef>
        <a:effectRef idx="0">
          <a:scrgbClr r="0" g="0" b="0"/>
        </a:effectRef>
        <a:fontRef idx="minor"/>
      </dsp:style>
    </dsp:sp>
    <dsp:sp modelId="{AB53B20B-C6D5-4022-A9C6-6CE1E16884D9}">
      <dsp:nvSpPr>
        <dsp:cNvPr id="0" name=""/>
        <dsp:cNvSpPr/>
      </dsp:nvSpPr>
      <dsp:spPr>
        <a:xfrm>
          <a:off x="45161" y="3769282"/>
          <a:ext cx="2312993" cy="475802"/>
        </a:xfrm>
        <a:prstGeom prst="rect">
          <a:avLst/>
        </a:prstGeom>
        <a:solidFill>
          <a:schemeClr val="accent3">
            <a:lumMod val="75000"/>
            <a:alpha val="40000"/>
          </a:schemeClr>
        </a:solidFill>
        <a:ln>
          <a:solidFill>
            <a:schemeClr val="accent3">
              <a:lumMod val="75000"/>
            </a:schemeClr>
          </a:solidFill>
          <a:extLst>
            <a:ext uri="{C807C97D-BFC1-408E-A445-0C87EB9F89A2}">
              <ask:lineSketchStyleProps xmlns:ask="http://schemas.microsoft.com/office/drawing/2018/sketchyshapes" xmlns="">
                <ask:type>
                  <ask:lineSketchCurved/>
                </ask:type>
              </ask:lineSketchStyleProps>
            </a:ext>
          </a:extLst>
        </a:ln>
        <a:effectLst/>
      </dsp:spPr>
      <dsp:style>
        <a:lnRef idx="0">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a:t>Bhoomi</a:t>
          </a:r>
        </a:p>
      </dsp:txBody>
      <dsp:txXfrm>
        <a:off x="45161" y="3769282"/>
        <a:ext cx="2312993" cy="475802"/>
      </dsp:txXfrm>
    </dsp:sp>
    <dsp:sp modelId="{195559A7-AD80-4976-A6E3-13710BA98B71}">
      <dsp:nvSpPr>
        <dsp:cNvPr id="0" name=""/>
        <dsp:cNvSpPr/>
      </dsp:nvSpPr>
      <dsp:spPr>
        <a:xfrm>
          <a:off x="2553006" y="2312298"/>
          <a:ext cx="2312993" cy="1982508"/>
        </a:xfrm>
        <a:prstGeom prst="rect">
          <a:avLst/>
        </a:prstGeom>
        <a:blipFill>
          <a:blip xmlns:r="http://schemas.openxmlformats.org/officeDocument/2006/relationships" r:embed="rId4"/>
          <a:srcRect/>
          <a:stretch>
            <a:fillRect t="-80000" b="-80000"/>
          </a:stretch>
        </a:blipFill>
        <a:ln>
          <a:noFill/>
        </a:ln>
        <a:effectLst/>
      </dsp:spPr>
      <dsp:style>
        <a:lnRef idx="0">
          <a:scrgbClr r="0" g="0" b="0"/>
        </a:lnRef>
        <a:fillRef idx="1">
          <a:scrgbClr r="0" g="0" b="0"/>
        </a:fillRef>
        <a:effectRef idx="0">
          <a:scrgbClr r="0" g="0" b="0"/>
        </a:effectRef>
        <a:fontRef idx="minor"/>
      </dsp:style>
    </dsp:sp>
    <dsp:sp modelId="{8D7B03B8-B727-4DB5-ADEC-DDBD2B38903B}">
      <dsp:nvSpPr>
        <dsp:cNvPr id="0" name=""/>
        <dsp:cNvSpPr/>
      </dsp:nvSpPr>
      <dsp:spPr>
        <a:xfrm>
          <a:off x="2553006" y="3786266"/>
          <a:ext cx="2312993" cy="542281"/>
        </a:xfrm>
        <a:prstGeom prst="rect">
          <a:avLst/>
        </a:prstGeom>
        <a:solidFill>
          <a:schemeClr val="accent1">
            <a:tint val="50000"/>
            <a:alpha val="40000"/>
            <a:hueOff val="0"/>
            <a:satOff val="0"/>
            <a:lumOff val="0"/>
            <a:alphaOff val="0"/>
          </a:schemeClr>
        </a:solidFill>
        <a:ln>
          <a:solidFill>
            <a:schemeClr val="accent3">
              <a:lumMod val="75000"/>
            </a:schemeClr>
          </a:solidFill>
          <a:extLst>
            <a:ext uri="{C807C97D-BFC1-408E-A445-0C87EB9F89A2}">
              <ask:lineSketchStyleProps xmlns:ask="http://schemas.microsoft.com/office/drawing/2018/sketchyshapes" xmlns="">
                <ask:type>
                  <ask:lineSketchCurved/>
                </ask:type>
              </ask:lineSketchStyleProps>
            </a:ext>
          </a:extLst>
        </a:ln>
        <a:effectLst/>
      </dsp:spPr>
      <dsp:style>
        <a:lnRef idx="0">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800100">
            <a:lnSpc>
              <a:spcPct val="90000"/>
            </a:lnSpc>
            <a:spcBef>
              <a:spcPct val="0"/>
            </a:spcBef>
            <a:spcAft>
              <a:spcPct val="35000"/>
            </a:spcAft>
          </a:pPr>
          <a:r>
            <a:rPr lang="en-US" sz="1800" kern="1200" dirty="0"/>
            <a:t> </a:t>
          </a:r>
          <a:r>
            <a:rPr lang="en-US" sz="1800" kern="1200" dirty="0">
              <a:solidFill>
                <a:schemeClr val="tx1"/>
              </a:solidFill>
              <a:latin typeface="Times New Roman" panose="02020603050405020304" pitchFamily="18" charset="0"/>
              <a:cs typeface="Times New Roman" panose="02020603050405020304" pitchFamily="18" charset="0"/>
            </a:rPr>
            <a:t>Khushi Khasyap</a:t>
          </a:r>
          <a:endParaRPr lang="en-US" sz="1800" kern="1200" dirty="0"/>
        </a:p>
      </dsp:txBody>
      <dsp:txXfrm>
        <a:off x="2553006" y="3786266"/>
        <a:ext cx="2312993" cy="54228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BendingPictureSemiTransparentText">
  <dgm:title val=""/>
  <dgm:desc val=""/>
  <dgm:catLst>
    <dgm:cat type="picture" pri="7000"/>
    <dgm:cat type="pictureconvert" pri="7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19"/>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1667"/>
        </dgm:alg>
        <dgm:shape xmlns:r="http://schemas.openxmlformats.org/officeDocument/2006/relationships" r:blip="">
          <dgm:adjLst/>
        </dgm:shape>
        <dgm:constrLst>
          <dgm:constr type="l" for="ch" forName="rect1" refType="w" fact="0"/>
          <dgm:constr type="t" for="ch" forName="rect1" refType="h" fact="0"/>
          <dgm:constr type="w" for="ch" forName="rect1" refType="w"/>
          <dgm:constr type="h" for="ch" forName="rect1" refType="h"/>
          <dgm:constr type="l" for="ch" forName="rect2" refType="w" fact="0"/>
          <dgm:constr type="t" for="ch" forName="rect2" refType="h" fact="0.7"/>
          <dgm:constr type="w" for="ch" forName="rect2" refType="w"/>
          <dgm:constr type="h" for="ch" forName="rect2" refType="h" fact="0.24"/>
        </dgm:constrLst>
        <dgm:layoutNode name="rect1" styleLbl="bgShp">
          <dgm:alg type="sp"/>
          <dgm:shape xmlns:r="http://schemas.openxmlformats.org/officeDocument/2006/relationships" type="rect" r:blip="" blipPhldr="1">
            <dgm:adjLst/>
          </dgm:shape>
          <dgm:presOf/>
        </dgm:layoutNode>
        <dgm:layoutNode name="rect2" styleLbl="trBgShp">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064968-4832-40EC-8F34-DA7B49522A8E}" type="datetimeFigureOut">
              <a:rPr lang="en-IN" smtClean="0"/>
              <a:t>29-04-2026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E67F8A-AFC1-42D8-8F1F-DE22E73D1BCC}" type="slidenum">
              <a:rPr lang="en-IN" smtClean="0"/>
              <a:t>‹#›</a:t>
            </a:fld>
            <a:endParaRPr lang="en-IN"/>
          </a:p>
        </p:txBody>
      </p:sp>
    </p:spTree>
    <p:extLst>
      <p:ext uri="{BB962C8B-B14F-4D97-AF65-F5344CB8AC3E}">
        <p14:creationId xmlns:p14="http://schemas.microsoft.com/office/powerpoint/2010/main" val="1262172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FE67F8A-AFC1-42D8-8F1F-DE22E73D1BCC}" type="slidenum">
              <a:rPr lang="en-IN" smtClean="0"/>
              <a:t>13</a:t>
            </a:fld>
            <a:endParaRPr lang="en-IN"/>
          </a:p>
        </p:txBody>
      </p:sp>
    </p:spTree>
    <p:extLst>
      <p:ext uri="{BB962C8B-B14F-4D97-AF65-F5344CB8AC3E}">
        <p14:creationId xmlns:p14="http://schemas.microsoft.com/office/powerpoint/2010/main" val="1135609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p:txBody>
          <a:bodyPr/>
          <a:lstStyle/>
          <a:p>
            <a:fld id="{1160EA64-D806-43AC-9DF2-F8C432F32B4C}" type="datetimeFigureOut">
              <a:rPr lang="en-US" dirty="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223506541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070A7B3-6521-4DCA-87E5-044747A908C1}" type="datetimeFigureOut">
              <a:rPr lang="en-US" dirty="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1312252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a:p>
        </p:txBody>
      </p:sp>
    </p:spTree>
    <p:extLst>
      <p:ext uri="{BB962C8B-B14F-4D97-AF65-F5344CB8AC3E}">
        <p14:creationId xmlns:p14="http://schemas.microsoft.com/office/powerpoint/2010/main" val="233394254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AB134690-1557-4C89-A502-4959FE7FAD70}" type="datetimeFigureOut">
              <a:rPr lang="en-US" dirty="0"/>
              <a:t>4/29/2026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020116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34360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1037C31-9E7A-4F99-8774-A0E530DE1A42}" type="datetimeFigureOut">
              <a:rPr lang="en-US" dirty="0"/>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393314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3552716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4/29/2026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1906517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4/29/2026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242252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F9C37B-1D36-470B-8223-D6C91242EC14}" type="datetimeFigureOut">
              <a:rPr lang="en-US" dirty="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144864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C6F52A-A82B-47A2-A83A-8C4C91F2D59F}" type="datetimeFigureOut">
              <a:rPr lang="en-US" dirty="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a:p>
        </p:txBody>
      </p:sp>
    </p:spTree>
    <p:extLst>
      <p:ext uri="{BB962C8B-B14F-4D97-AF65-F5344CB8AC3E}">
        <p14:creationId xmlns:p14="http://schemas.microsoft.com/office/powerpoint/2010/main" val="241702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4/29/2026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a:p>
        </p:txBody>
      </p:sp>
    </p:spTree>
    <p:extLst>
      <p:ext uri="{BB962C8B-B14F-4D97-AF65-F5344CB8AC3E}">
        <p14:creationId xmlns:p14="http://schemas.microsoft.com/office/powerpoint/2010/main" val="3993068660"/>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7D3A4E0-C908-4EA9-ABDF-E82AD6BDEF9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15DF57-098C-4FCB-B7A8-E497E9B6043E}"/>
              </a:ext>
            </a:extLst>
          </p:cNvPr>
          <p:cNvSpPr>
            <a:spLocks noGrp="1"/>
          </p:cNvSpPr>
          <p:nvPr>
            <p:ph type="ctrTitle"/>
          </p:nvPr>
        </p:nvSpPr>
        <p:spPr>
          <a:xfrm>
            <a:off x="1600200" y="2363323"/>
            <a:ext cx="8991600" cy="2315769"/>
          </a:xfrm>
        </p:spPr>
        <p:txBody>
          <a:bodyPr vert="horz" lIns="182880" tIns="182880" rIns="182880" bIns="182880" rtlCol="0">
            <a:noAutofit/>
          </a:bodyPr>
          <a:lstStyle/>
          <a:p>
            <a:r>
              <a:rPr lang="en-US" sz="4000" dirty="0" smtClean="0">
                <a:solidFill>
                  <a:srgbClr val="002060"/>
                </a:solidFill>
                <a:latin typeface="Algerian" panose="04020705040A02060702" pitchFamily="82" charset="0"/>
              </a:rPr>
              <a:t>Deep Learning: </a:t>
            </a:r>
            <a:r>
              <a:rPr lang="en-IN" sz="4000" dirty="0">
                <a:solidFill>
                  <a:srgbClr val="002060"/>
                </a:solidFill>
                <a:latin typeface="Algerian" panose="04020705040A02060702" pitchFamily="82" charset="0"/>
              </a:rPr>
              <a:t>Handwritten Digit Recognition</a:t>
            </a:r>
            <a:endParaRPr lang="en-US" sz="4000" dirty="0">
              <a:solidFill>
                <a:srgbClr val="002060"/>
              </a:solidFill>
              <a:latin typeface="Algerian" panose="04020705040A02060702" pitchFamily="82" charset="0"/>
            </a:endParaRPr>
          </a:p>
        </p:txBody>
      </p:sp>
    </p:spTree>
    <p:extLst>
      <p:ext uri="{BB962C8B-B14F-4D97-AF65-F5344CB8AC3E}">
        <p14:creationId xmlns:p14="http://schemas.microsoft.com/office/powerpoint/2010/main" val="98054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E866FF9-A729-45F0-A163-10E89E87160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38255" cy="6858000"/>
          </a:xfrm>
          <a:prstGeom prst="rect">
            <a:avLst/>
          </a:prstGeom>
          <a:solidFill>
            <a:srgbClr val="4A53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664794" y="2167468"/>
            <a:ext cx="3401568" cy="2009432"/>
          </a:xfrm>
          <a:solidFill>
            <a:schemeClr val="accent5">
              <a:lumMod val="20000"/>
              <a:lumOff val="80000"/>
            </a:schemeClr>
          </a:solidFill>
          <a:ln>
            <a:solidFill>
              <a:schemeClr val="accent3">
                <a:lumMod val="50000"/>
              </a:schemeClr>
            </a:solidFill>
          </a:ln>
        </p:spPr>
        <p:txBody>
          <a:bodyPr>
            <a:noAutofit/>
          </a:bodyPr>
          <a:lstStyle/>
          <a:p>
            <a:r>
              <a:rPr lang="en-IN" sz="3200" dirty="0">
                <a:solidFill>
                  <a:srgbClr val="002060"/>
                </a:solidFill>
                <a:latin typeface="Algerian" panose="04020705040A02060702" pitchFamily="82" charset="0"/>
              </a:rPr>
              <a:t>Smart Recognizers</a:t>
            </a:r>
          </a:p>
        </p:txBody>
      </p:sp>
      <p:sp useBgFill="1">
        <p:nvSpPr>
          <p:cNvPr id="21" name="Rectangle 20">
            <a:extLst>
              <a:ext uri="{FF2B5EF4-FFF2-40B4-BE49-F238E27FC236}">
                <a16:creationId xmlns:a16="http://schemas.microsoft.com/office/drawing/2014/main" id="{A804366F-2366-4688-98E7-B101C7BC61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3278" y="0"/>
            <a:ext cx="7438722"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2F6407E-AAD2-A4D5-4610-A42FBD9CB175}"/>
              </a:ext>
            </a:extLst>
          </p:cNvPr>
          <p:cNvGraphicFramePr>
            <a:graphicFrameLocks noGrp="1"/>
          </p:cNvGraphicFramePr>
          <p:nvPr>
            <p:ph idx="1"/>
            <p:extLst>
              <p:ext uri="{D42A27DB-BD31-4B8C-83A1-F6EECF244321}">
                <p14:modId xmlns:p14="http://schemas.microsoft.com/office/powerpoint/2010/main" val="325097247"/>
              </p:ext>
            </p:extLst>
          </p:nvPr>
        </p:nvGraphicFramePr>
        <p:xfrm>
          <a:off x="5397501" y="639763"/>
          <a:ext cx="6282310" cy="2567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 name="Group 3">
            <a:extLst>
              <a:ext uri="{FF2B5EF4-FFF2-40B4-BE49-F238E27FC236}">
                <a16:creationId xmlns:a16="http://schemas.microsoft.com/office/drawing/2014/main" id="{7BCE0D83-DF72-32F8-B5DD-EE783615D5F8}"/>
              </a:ext>
            </a:extLst>
          </p:cNvPr>
          <p:cNvGrpSpPr/>
          <p:nvPr/>
        </p:nvGrpSpPr>
        <p:grpSpPr>
          <a:xfrm>
            <a:off x="4753279" y="2167468"/>
            <a:ext cx="2211965" cy="2497838"/>
            <a:chOff x="0" y="1315097"/>
            <a:chExt cx="2261631" cy="1252444"/>
          </a:xfrm>
          <a:solidFill>
            <a:srgbClr val="9CA383"/>
          </a:solidFill>
        </p:grpSpPr>
        <p:sp>
          <p:nvSpPr>
            <p:cNvPr id="6" name="Rectangle: Rounded Corners 5">
              <a:extLst>
                <a:ext uri="{FF2B5EF4-FFF2-40B4-BE49-F238E27FC236}">
                  <a16:creationId xmlns:a16="http://schemas.microsoft.com/office/drawing/2014/main" id="{3BD57785-5D15-79E9-3ECF-86C512858270}"/>
                </a:ext>
              </a:extLst>
            </p:cNvPr>
            <p:cNvSpPr/>
            <p:nvPr/>
          </p:nvSpPr>
          <p:spPr>
            <a:xfrm>
              <a:off x="0" y="1315097"/>
              <a:ext cx="2261631" cy="1252444"/>
            </a:xfrm>
            <a:prstGeom prst="roundRect">
              <a:avLst/>
            </a:prstGeom>
            <a:grp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IN"/>
            </a:p>
          </p:txBody>
        </p:sp>
        <p:sp>
          <p:nvSpPr>
            <p:cNvPr id="7" name="Rectangle: Rounded Corners 4">
              <a:extLst>
                <a:ext uri="{FF2B5EF4-FFF2-40B4-BE49-F238E27FC236}">
                  <a16:creationId xmlns:a16="http://schemas.microsoft.com/office/drawing/2014/main" id="{6E193F18-9816-2134-C79C-11FDD5C0D8D5}"/>
                </a:ext>
              </a:extLst>
            </p:cNvPr>
            <p:cNvSpPr txBox="1"/>
            <p:nvPr/>
          </p:nvSpPr>
          <p:spPr>
            <a:xfrm>
              <a:off x="134997" y="1376236"/>
              <a:ext cx="2065494" cy="940318"/>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40970" tIns="70485" rIns="140970" bIns="70485" numCol="1" spcCol="1270" anchor="ctr" anchorCtr="0">
              <a:noAutofit/>
            </a:bodyPr>
            <a:lstStyle/>
            <a:p>
              <a:pPr lvl="0" algn="ctr" defTabSz="1644650">
                <a:lnSpc>
                  <a:spcPct val="90000"/>
                </a:lnSpc>
                <a:spcBef>
                  <a:spcPct val="0"/>
                </a:spcBef>
                <a:spcAft>
                  <a:spcPct val="35000"/>
                </a:spcAft>
              </a:pPr>
              <a:r>
                <a:rPr lang="en-US" sz="2400" b="1" dirty="0">
                  <a:solidFill>
                    <a:schemeClr val="tx1"/>
                  </a:solidFill>
                  <a:latin typeface="Times New Roman" panose="02020603050405020304" pitchFamily="18" charset="0"/>
                  <a:cs typeface="Times New Roman" panose="02020603050405020304" pitchFamily="18" charset="0"/>
                </a:rPr>
                <a:t>Khushi Khasyap</a:t>
              </a:r>
            </a:p>
            <a:p>
              <a:pPr marL="0" lvl="0" indent="0" algn="ctr" defTabSz="1644650">
                <a:lnSpc>
                  <a:spcPct val="90000"/>
                </a:lnSpc>
                <a:spcBef>
                  <a:spcPct val="0"/>
                </a:spcBef>
                <a:spcAft>
                  <a:spcPct val="35000"/>
                </a:spcAft>
                <a:buNone/>
              </a:pPr>
              <a:r>
                <a:rPr lang="en-US" sz="2000" dirty="0" smtClean="0">
                  <a:solidFill>
                    <a:schemeClr val="tx1"/>
                  </a:solidFill>
                  <a:latin typeface="Times New Roman" panose="02020603050405020304" pitchFamily="18" charset="0"/>
                  <a:cs typeface="Times New Roman" panose="02020603050405020304" pitchFamily="18" charset="0"/>
                </a:rPr>
                <a:t>Kashish </a:t>
              </a:r>
              <a:r>
                <a:rPr lang="en-US" sz="2000" dirty="0">
                  <a:solidFill>
                    <a:schemeClr val="tx1"/>
                  </a:solidFill>
                  <a:latin typeface="Times New Roman" panose="02020603050405020304" pitchFamily="18" charset="0"/>
                  <a:cs typeface="Times New Roman" panose="02020603050405020304" pitchFamily="18" charset="0"/>
                </a:rPr>
                <a:t>Gautam</a:t>
              </a:r>
              <a:endParaRPr lang="en-US" kern="1200" dirty="0">
                <a:solidFill>
                  <a:schemeClr val="tx1"/>
                </a:solidFill>
                <a:latin typeface="Times New Roman" panose="02020603050405020304" pitchFamily="18" charset="0"/>
                <a:cs typeface="Times New Roman" panose="02020603050405020304" pitchFamily="18" charset="0"/>
              </a:endParaRPr>
            </a:p>
            <a:p>
              <a:pPr lvl="0" algn="ctr" defTabSz="1644650">
                <a:lnSpc>
                  <a:spcPct val="90000"/>
                </a:lnSpc>
                <a:spcBef>
                  <a:spcPct val="0"/>
                </a:spcBef>
                <a:spcAft>
                  <a:spcPct val="35000"/>
                </a:spcAft>
              </a:pPr>
              <a:r>
                <a:rPr lang="en-US" sz="2000" dirty="0">
                  <a:solidFill>
                    <a:schemeClr val="tx1"/>
                  </a:solidFill>
                  <a:latin typeface="Times New Roman" panose="02020603050405020304" pitchFamily="18" charset="0"/>
                  <a:cs typeface="Times New Roman" panose="02020603050405020304" pitchFamily="18" charset="0"/>
                </a:rPr>
                <a:t>Bhoomi</a:t>
              </a:r>
            </a:p>
            <a:p>
              <a:pPr lvl="0" algn="ctr" defTabSz="1644650">
                <a:lnSpc>
                  <a:spcPct val="90000"/>
                </a:lnSpc>
                <a:spcBef>
                  <a:spcPct val="0"/>
                </a:spcBef>
                <a:spcAft>
                  <a:spcPct val="35000"/>
                </a:spcAft>
              </a:pPr>
              <a:r>
                <a:rPr lang="en-US" sz="2000" dirty="0" smtClean="0">
                  <a:solidFill>
                    <a:schemeClr val="tx1"/>
                  </a:solidFill>
                  <a:latin typeface="Times New Roman" panose="02020603050405020304" pitchFamily="18" charset="0"/>
                  <a:cs typeface="Times New Roman" panose="02020603050405020304" pitchFamily="18" charset="0"/>
                </a:rPr>
                <a:t>Ashi</a:t>
              </a:r>
              <a:endParaRPr lang="en-US" sz="2000" kern="1200" dirty="0">
                <a:solidFill>
                  <a:schemeClr val="tx1"/>
                </a:solidFill>
                <a:latin typeface="Times New Roman" panose="02020603050405020304" pitchFamily="18" charset="0"/>
                <a:cs typeface="Times New Roman" panose="02020603050405020304" pitchFamily="18" charset="0"/>
              </a:endParaRPr>
            </a:p>
          </p:txBody>
        </p:sp>
      </p:grpSp>
      <p:graphicFrame>
        <p:nvGraphicFramePr>
          <p:cNvPr id="8" name="Diagram 7">
            <a:extLst>
              <a:ext uri="{FF2B5EF4-FFF2-40B4-BE49-F238E27FC236}">
                <a16:creationId xmlns:a16="http://schemas.microsoft.com/office/drawing/2014/main" id="{15E551B8-8529-0A54-59C7-8C5D4BFFE238}"/>
              </a:ext>
            </a:extLst>
          </p:cNvPr>
          <p:cNvGraphicFramePr/>
          <p:nvPr>
            <p:extLst>
              <p:ext uri="{D42A27DB-BD31-4B8C-83A1-F6EECF244321}">
                <p14:modId xmlns:p14="http://schemas.microsoft.com/office/powerpoint/2010/main" val="3523182181"/>
              </p:ext>
            </p:extLst>
          </p:nvPr>
        </p:nvGraphicFramePr>
        <p:xfrm>
          <a:off x="7037478" y="1264725"/>
          <a:ext cx="4866000" cy="432854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83350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rgbClr val="4A53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1279609" y="1586484"/>
            <a:ext cx="3685032" cy="3685032"/>
          </a:xfrm>
          <a:prstGeom prst="ellipse">
            <a:avLst/>
          </a:prstGeom>
          <a:solidFill>
            <a:schemeClr val="accent2">
              <a:lumMod val="75000"/>
            </a:schemeClr>
          </a:solidFill>
          <a:ln>
            <a:noFill/>
          </a:ln>
        </p:spPr>
        <p:txBody>
          <a:bodyPr>
            <a:noAutofit/>
          </a:bodyPr>
          <a:lstStyle/>
          <a:p>
            <a:r>
              <a:rPr lang="en-US" dirty="0" smtClean="0">
                <a:solidFill>
                  <a:schemeClr val="bg1"/>
                </a:solidFill>
                <a:latin typeface="Algerian" panose="04020705040A02060702" pitchFamily="82" charset="0"/>
              </a:rPr>
              <a:t>Workload </a:t>
            </a:r>
            <a:r>
              <a:rPr lang="en-IN" dirty="0">
                <a:solidFill>
                  <a:schemeClr val="bg1"/>
                </a:solidFill>
                <a:latin typeface="Algerian" panose="04020705040A02060702" pitchFamily="82" charset="0"/>
              </a:rPr>
              <a:t>Division</a:t>
            </a:r>
          </a:p>
        </p:txBody>
      </p:sp>
      <p:sp>
        <p:nvSpPr>
          <p:cNvPr id="3" name="Content Placeholder 2">
            <a:extLst>
              <a:ext uri="{FF2B5EF4-FFF2-40B4-BE49-F238E27FC236}">
                <a16:creationId xmlns:a16="http://schemas.microsoft.com/office/drawing/2014/main" id="{DEFFB6BC-B8A2-4F6A-861D-C36B251B727B}"/>
              </a:ext>
            </a:extLst>
          </p:cNvPr>
          <p:cNvSpPr>
            <a:spLocks noGrp="1"/>
          </p:cNvSpPr>
          <p:nvPr>
            <p:ph idx="1"/>
          </p:nvPr>
        </p:nvSpPr>
        <p:spPr>
          <a:xfrm>
            <a:off x="5591695" y="1655804"/>
            <a:ext cx="5320696" cy="3674077"/>
          </a:xfrm>
        </p:spPr>
        <p:txBody>
          <a:bodyPr anchor="ctr">
            <a:normAutofit/>
          </a:bodyPr>
          <a:lstStyle/>
          <a:p>
            <a:pPr marL="0" indent="0" algn="ctr">
              <a:buNone/>
            </a:pPr>
            <a:r>
              <a:rPr lang="en-IN" sz="2800" b="1" dirty="0">
                <a:solidFill>
                  <a:srgbClr val="002060"/>
                </a:solidFill>
                <a:latin typeface="Times New Roman"/>
                <a:cs typeface="Times New Roman"/>
              </a:rPr>
              <a:t>Contribution of each team member in project</a:t>
            </a:r>
          </a:p>
          <a:p>
            <a:pPr lvl="0"/>
            <a:r>
              <a:rPr lang="en-US" b="1" dirty="0"/>
              <a:t>Bhoomi -</a:t>
            </a:r>
            <a:r>
              <a:rPr lang="en-US" dirty="0"/>
              <a:t> Worked on coding implementation and &amp; Video Editing for demonstration.</a:t>
            </a:r>
            <a:endParaRPr lang="en-IN" dirty="0"/>
          </a:p>
          <a:p>
            <a:pPr lvl="0"/>
            <a:r>
              <a:rPr lang="en-US" b="1" dirty="0"/>
              <a:t>Kashish Gautam – </a:t>
            </a:r>
            <a:r>
              <a:rPr lang="en-US" dirty="0"/>
              <a:t>Worked &amp; Prepared the Presentation, Documentation, basic coding support.</a:t>
            </a:r>
            <a:endParaRPr lang="en-IN" dirty="0"/>
          </a:p>
          <a:p>
            <a:pPr lvl="0"/>
            <a:r>
              <a:rPr lang="en-US" b="1" dirty="0"/>
              <a:t>Ashi – </a:t>
            </a:r>
            <a:r>
              <a:rPr lang="en-US" dirty="0"/>
              <a:t>Worked on coding implementation &amp; Assisted in data understanding and preprocessing.</a:t>
            </a:r>
            <a:endParaRPr lang="en-IN" dirty="0"/>
          </a:p>
          <a:p>
            <a:pPr lvl="0"/>
            <a:r>
              <a:rPr lang="en-US" b="1" dirty="0"/>
              <a:t>Khushi Kashyap – </a:t>
            </a:r>
            <a:r>
              <a:rPr lang="en-US" dirty="0"/>
              <a:t>Dataset Handling &amp; Contributed  the Documentation.</a:t>
            </a:r>
            <a:endParaRPr lang="en-IN" dirty="0"/>
          </a:p>
        </p:txBody>
      </p:sp>
    </p:spTree>
    <p:extLst>
      <p:ext uri="{BB962C8B-B14F-4D97-AF65-F5344CB8AC3E}">
        <p14:creationId xmlns:p14="http://schemas.microsoft.com/office/powerpoint/2010/main" val="227725509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C86B1-7C33-4A37-A176-9016ACFEE5C4}"/>
              </a:ext>
            </a:extLst>
          </p:cNvPr>
          <p:cNvSpPr>
            <a:spLocks noGrp="1"/>
          </p:cNvSpPr>
          <p:nvPr>
            <p:ph type="title"/>
          </p:nvPr>
        </p:nvSpPr>
        <p:spPr>
          <a:xfrm>
            <a:off x="1117423" y="1443035"/>
            <a:ext cx="4171269" cy="3971930"/>
          </a:xfrm>
          <a:prstGeom prst="ellipse">
            <a:avLst/>
          </a:prstGeom>
          <a:solidFill>
            <a:schemeClr val="accent2">
              <a:lumMod val="75000"/>
            </a:schemeClr>
          </a:solidFill>
          <a:ln>
            <a:noFill/>
          </a:ln>
        </p:spPr>
        <p:txBody>
          <a:bodyPr>
            <a:normAutofit/>
          </a:bodyPr>
          <a:lstStyle/>
          <a:p>
            <a:r>
              <a:rPr lang="en-IN" sz="2000" dirty="0">
                <a:solidFill>
                  <a:srgbClr val="FFFFFF"/>
                </a:solidFill>
                <a:latin typeface="Times New Roman" panose="02020603050405020304" pitchFamily="18" charset="0"/>
                <a:cs typeface="Times New Roman" panose="02020603050405020304" pitchFamily="18" charset="0"/>
              </a:rPr>
              <a:t>The Background</a:t>
            </a:r>
            <a:br>
              <a:rPr lang="en-IN" sz="2000" dirty="0">
                <a:solidFill>
                  <a:srgbClr val="FFFFFF"/>
                </a:solidFill>
                <a:latin typeface="Times New Roman" panose="02020603050405020304" pitchFamily="18" charset="0"/>
                <a:cs typeface="Times New Roman" panose="02020603050405020304" pitchFamily="18" charset="0"/>
              </a:rPr>
            </a:br>
            <a:endParaRPr lang="en-IN" sz="20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EFFB6BC-B8A2-4F6A-861D-C36B251B727B}"/>
              </a:ext>
            </a:extLst>
          </p:cNvPr>
          <p:cNvSpPr>
            <a:spLocks noGrp="1"/>
          </p:cNvSpPr>
          <p:nvPr>
            <p:ph idx="1"/>
          </p:nvPr>
        </p:nvSpPr>
        <p:spPr>
          <a:xfrm>
            <a:off x="5610431" y="150471"/>
            <a:ext cx="6195746" cy="6609143"/>
          </a:xfrm>
        </p:spPr>
        <p:txBody>
          <a:bodyPr anchor="ctr">
            <a:normAutofit fontScale="62500" lnSpcReduction="20000"/>
          </a:bodyPr>
          <a:lstStyle/>
          <a:p>
            <a:r>
              <a:rPr lang="en-US" sz="2300" b="1" dirty="0">
                <a:latin typeface="Times New Roman" panose="02020603050405020304" pitchFamily="18" charset="0"/>
                <a:cs typeface="Times New Roman" panose="02020603050405020304" pitchFamily="18" charset="0"/>
              </a:rPr>
              <a:t>  </a:t>
            </a:r>
            <a:r>
              <a:rPr lang="en-US" sz="2300" b="1" u="sng" dirty="0">
                <a:latin typeface="Times New Roman" panose="02020603050405020304" pitchFamily="18" charset="0"/>
                <a:cs typeface="Times New Roman" panose="02020603050405020304" pitchFamily="18" charset="0"/>
              </a:rPr>
              <a:t>Past Scenario</a:t>
            </a:r>
            <a:r>
              <a:rPr lang="en-US" sz="2300" b="1" dirty="0">
                <a:latin typeface="Bahnschrift SemiBold" panose="020B0502040204020203" pitchFamily="34" charset="0"/>
                <a:cs typeface="Times New Roman" panose="02020603050405020304" pitchFamily="18" charset="0"/>
              </a:rPr>
              <a:t>:-</a:t>
            </a:r>
          </a:p>
          <a:p>
            <a:endParaRPr lang="en-US" sz="2000" b="1" dirty="0">
              <a:latin typeface="Bahnschrift SemiBold" panose="020B0502040204020203" pitchFamily="34" charset="0"/>
              <a:cs typeface="Times New Roman" panose="02020603050405020304" pitchFamily="18" charset="0"/>
            </a:endParaRPr>
          </a:p>
          <a:p>
            <a:r>
              <a:rPr lang="en-US" sz="2000" dirty="0"/>
              <a:t>Before the development of Handwritten Digit Recognition systems, most of the work related to reading and processing handwritten digits was done manually. No numerical features like brightness or mean color were extracted.</a:t>
            </a:r>
          </a:p>
          <a:p>
            <a:r>
              <a:rPr lang="en-US" sz="2000" dirty="0"/>
              <a:t>This made the entire process slow, inefficient, and highly dependent on human effort. For example, in banks, employees had to manually read and verify digits written on cheques</a:t>
            </a:r>
          </a:p>
          <a:p>
            <a:r>
              <a:rPr lang="en-US" sz="2000" dirty="0"/>
              <a:t>While in postal services, workers had to identify handwritten PIN codes or addresses.Results were unreliable and inconsistent.</a:t>
            </a:r>
          </a:p>
          <a:p>
            <a:pPr marL="358775" indent="266700">
              <a:buNone/>
            </a:pPr>
            <a:r>
              <a:rPr lang="en-US" u="sng" dirty="0">
                <a:latin typeface="Amasis MT Pro" panose="02040504050005020304" pitchFamily="18" charset="0"/>
                <a:cs typeface="Times New Roman" panose="02020603050405020304" pitchFamily="18" charset="0"/>
              </a:rPr>
              <a:t/>
            </a:r>
            <a:br>
              <a:rPr lang="en-US" u="sng" dirty="0">
                <a:latin typeface="Amasis MT Pro" panose="02040504050005020304" pitchFamily="18" charset="0"/>
                <a:cs typeface="Times New Roman" panose="02020603050405020304" pitchFamily="18" charset="0"/>
              </a:rPr>
            </a:br>
            <a:r>
              <a:rPr lang="en-US" sz="2300" b="1" u="sng" dirty="0">
                <a:latin typeface="Times New Roman" panose="02020603050405020304" pitchFamily="18" charset="0"/>
                <a:cs typeface="Times New Roman" panose="02020603050405020304" pitchFamily="18" charset="0"/>
              </a:rPr>
              <a:t>Historic Problem:- </a:t>
            </a:r>
          </a:p>
          <a:p>
            <a:pPr marL="358775" indent="266700">
              <a:buNone/>
            </a:pPr>
            <a:endParaRPr lang="en-US" sz="2000" b="1" u="sng" dirty="0">
              <a:latin typeface="Times New Roman" panose="02020603050405020304" pitchFamily="18" charset="0"/>
              <a:cs typeface="Times New Roman" panose="02020603050405020304" pitchFamily="18" charset="0"/>
            </a:endParaRPr>
          </a:p>
          <a:p>
            <a:pPr marL="0" indent="0"/>
            <a:r>
              <a:rPr lang="en-US" sz="2000" dirty="0" smtClean="0"/>
              <a:t>   Handwritten </a:t>
            </a:r>
            <a:r>
              <a:rPr lang="en-US" sz="2000" dirty="0"/>
              <a:t>digit </a:t>
            </a:r>
            <a:r>
              <a:rPr lang="en-US" sz="2000" dirty="0" smtClean="0"/>
              <a:t>recognition </a:t>
            </a:r>
            <a:r>
              <a:rPr lang="en-US" sz="2000" dirty="0"/>
              <a:t>was performed manually, making the process </a:t>
            </a:r>
            <a:r>
              <a:rPr lang="en-US" sz="2000" dirty="0" smtClean="0"/>
              <a:t>slow.     </a:t>
            </a:r>
          </a:p>
          <a:p>
            <a:pPr marL="0" indent="0"/>
            <a:r>
              <a:rPr lang="en-US" sz="2000" dirty="0" smtClean="0"/>
              <a:t>   Different </a:t>
            </a:r>
            <a:r>
              <a:rPr lang="en-US" sz="2000" dirty="0"/>
              <a:t>handwriting styles created confusion and increased the chances .</a:t>
            </a:r>
            <a:endParaRPr lang="en-US" sz="2000" dirty="0" smtClean="0"/>
          </a:p>
          <a:p>
            <a:pPr marL="0" indent="0"/>
            <a:r>
              <a:rPr lang="en-US" sz="2000" dirty="0" smtClean="0"/>
              <a:t>   Here </a:t>
            </a:r>
            <a:r>
              <a:rPr lang="en-US" sz="2000" dirty="0"/>
              <a:t>was no automated system to process and classify handwritten </a:t>
            </a:r>
            <a:r>
              <a:rPr lang="en-US" sz="2000" dirty="0" smtClean="0"/>
              <a:t>digits.</a:t>
            </a:r>
          </a:p>
          <a:p>
            <a:r>
              <a:rPr lang="en-US" sz="2000" dirty="0" smtClean="0"/>
              <a:t>Large-scale </a:t>
            </a:r>
            <a:r>
              <a:rPr lang="en-US" sz="2000" dirty="0"/>
              <a:t>data handling was difficult, leading to delays and reduced productivity. </a:t>
            </a:r>
          </a:p>
          <a:p>
            <a:pPr marL="0" indent="0">
              <a:buNone/>
            </a:pPr>
            <a:r>
              <a:rPr lang="en-US" sz="2000" b="1" dirty="0" smtClean="0">
                <a:latin typeface="Times New Roman" panose="02020603050405020304" pitchFamily="18" charset="0"/>
                <a:cs typeface="Times New Roman" panose="02020603050405020304" pitchFamily="18" charset="0"/>
              </a:rPr>
              <a:t>       </a:t>
            </a:r>
            <a:r>
              <a:rPr lang="en-US" sz="2300" b="1" u="sng" dirty="0">
                <a:latin typeface="Times New Roman" panose="02020603050405020304" pitchFamily="18" charset="0"/>
                <a:cs typeface="Times New Roman" panose="02020603050405020304" pitchFamily="18" charset="0"/>
              </a:rPr>
              <a:t>Current Need</a:t>
            </a:r>
            <a:r>
              <a:rPr lang="en-US" sz="2300" b="1" dirty="0">
                <a:latin typeface="Times New Roman" panose="02020603050405020304" pitchFamily="18" charset="0"/>
                <a:cs typeface="Times New Roman" panose="02020603050405020304" pitchFamily="18" charset="0"/>
              </a:rPr>
              <a:t>:-</a:t>
            </a:r>
          </a:p>
          <a:p>
            <a:pPr marL="0" indent="0">
              <a:buNone/>
            </a:pPr>
            <a:endParaRPr lang="en-US" sz="2000" b="1" dirty="0">
              <a:latin typeface="Times New Roman" panose="02020603050405020304" pitchFamily="18" charset="0"/>
              <a:cs typeface="Times New Roman" panose="02020603050405020304" pitchFamily="18" charset="0"/>
            </a:endParaRPr>
          </a:p>
          <a:p>
            <a:r>
              <a:rPr lang="en-US" sz="2000" dirty="0"/>
              <a:t>Manual digit recognition is not suitable for large-scale data processing in modern applications</a:t>
            </a:r>
            <a:r>
              <a:rPr lang="en-US" sz="2000" dirty="0" smtClean="0"/>
              <a:t>.</a:t>
            </a:r>
          </a:p>
          <a:p>
            <a:r>
              <a:rPr lang="en-US" sz="2000" dirty="0"/>
              <a:t>High accuracy and fast processing are required for real-time systems like banking and document scanning.</a:t>
            </a:r>
          </a:p>
          <a:p>
            <a:r>
              <a:rPr lang="en-US" sz="2000" dirty="0"/>
              <a:t>Machine learning and deep learning models (like CNN) are needed to reduce errors and improve efficiency</a:t>
            </a:r>
            <a:r>
              <a:rPr lang="en-US" sz="2000" dirty="0" smtClean="0"/>
              <a:t>.</a:t>
            </a:r>
          </a:p>
          <a:p>
            <a:r>
              <a:rPr lang="en-US" sz="2000" dirty="0"/>
              <a:t>There is a strong need for automated systems to recognize handwritten digits quickly and accurately.</a:t>
            </a:r>
            <a:r>
              <a:rPr lang="en-US" sz="2000" dirty="0" smtClean="0"/>
              <a:t>.</a:t>
            </a:r>
            <a:endParaRPr lang="en-US" sz="2000" b="1" u="sng"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592946" y="2356728"/>
            <a:ext cx="3020886" cy="23395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84711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B94EB9-4981-4B64-BA7E-735F6CAD4324}"/>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b="1" dirty="0">
                <a:solidFill>
                  <a:srgbClr val="FFFFFF"/>
                </a:solidFill>
                <a:latin typeface="Algerian" panose="04020705040A02060702" pitchFamily="82"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2473D968-550A-45A2-B636-4D6F7BFB4421}"/>
              </a:ext>
            </a:extLst>
          </p:cNvPr>
          <p:cNvSpPr>
            <a:spLocks noGrp="1"/>
          </p:cNvSpPr>
          <p:nvPr>
            <p:ph idx="1"/>
          </p:nvPr>
        </p:nvSpPr>
        <p:spPr>
          <a:xfrm>
            <a:off x="5591695" y="740780"/>
            <a:ext cx="5635748" cy="4715140"/>
          </a:xfrm>
        </p:spPr>
        <p:txBody>
          <a:bodyPr anchor="ctr">
            <a:normAutofit/>
          </a:bodyPr>
          <a:lstStyle/>
          <a:p>
            <a:pPr lvl="1">
              <a:buFont typeface="Wingdings" panose="05000000000000000000" pitchFamily="2" charset="2"/>
              <a:buChar char="Ø"/>
            </a:pPr>
            <a:r>
              <a:rPr lang="en-US" sz="1800" dirty="0"/>
              <a:t>Handwritten digit recognition is a computer vision problem to classify digits (0–9) from images. Manual recognition is slow and error-prone. This project uses a CNN model to automatically learn patterns from the MNIST dataset and predict digits accurately. It helps in automating tasks like form reading and document processing.</a:t>
            </a:r>
            <a:endParaRPr lang="en-IN" sz="1800" dirty="0"/>
          </a:p>
        </p:txBody>
      </p:sp>
    </p:spTree>
    <p:extLst>
      <p:ext uri="{BB962C8B-B14F-4D97-AF65-F5344CB8AC3E}">
        <p14:creationId xmlns:p14="http://schemas.microsoft.com/office/powerpoint/2010/main" val="102367698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B347B7-4FBF-466B-B290-31F20EBCD3F1}"/>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3200" b="1" dirty="0">
                <a:solidFill>
                  <a:srgbClr val="FFFFFF"/>
                </a:solidFill>
                <a:latin typeface="Algerian" panose="04020705040A02060702" pitchFamily="82" charset="0"/>
                <a:cs typeface="Times New Roman" panose="02020603050405020304" pitchFamily="18" charset="0"/>
              </a:rPr>
              <a:t>Proposed Solution</a:t>
            </a:r>
          </a:p>
        </p:txBody>
      </p:sp>
      <p:sp>
        <p:nvSpPr>
          <p:cNvPr id="3" name="Content Placeholder 2">
            <a:extLst>
              <a:ext uri="{FF2B5EF4-FFF2-40B4-BE49-F238E27FC236}">
                <a16:creationId xmlns:a16="http://schemas.microsoft.com/office/drawing/2014/main" id="{C46ED790-B911-4363-9E4B-39B6B5FCE59E}"/>
              </a:ext>
            </a:extLst>
          </p:cNvPr>
          <p:cNvSpPr>
            <a:spLocks noGrp="1"/>
          </p:cNvSpPr>
          <p:nvPr>
            <p:ph idx="1"/>
          </p:nvPr>
        </p:nvSpPr>
        <p:spPr>
          <a:xfrm>
            <a:off x="5591695" y="914400"/>
            <a:ext cx="5774644" cy="4541520"/>
          </a:xfrm>
        </p:spPr>
        <p:txBody>
          <a:bodyPr anchor="ctr">
            <a:normAutofit/>
          </a:bodyPr>
          <a:lstStyle/>
          <a:p>
            <a:pPr lvl="1">
              <a:buFont typeface="Wingdings" panose="05000000000000000000" pitchFamily="2" charset="2"/>
              <a:buChar char="Ø"/>
            </a:pPr>
            <a:r>
              <a:rPr lang="en-US" sz="1800" dirty="0"/>
              <a:t>This project proposes a Convolutional Neural Network (CNN) model to recognize handwritten digits (0–9) using the MNIST dataset. The model automatically learns important features from images without manual feature extraction. It improves accuracy through training on large labeled data. The trained model is then used to predict digits from new handwritten inputs in real time.</a:t>
            </a:r>
          </a:p>
          <a:p>
            <a:pPr marL="228600" lvl="1" indent="0">
              <a:buNone/>
            </a:pPr>
            <a:endParaRPr lang="en-US" sz="1800" dirty="0"/>
          </a:p>
        </p:txBody>
      </p:sp>
    </p:spTree>
    <p:extLst>
      <p:ext uri="{BB962C8B-B14F-4D97-AF65-F5344CB8AC3E}">
        <p14:creationId xmlns:p14="http://schemas.microsoft.com/office/powerpoint/2010/main" val="1741187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7D89FB-6AE0-4387-B7C5-B6BE39BA7579}"/>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3200" b="1" dirty="0">
                <a:solidFill>
                  <a:srgbClr val="FFFFFF"/>
                </a:solidFill>
                <a:latin typeface="Algerian" panose="04020705040A02060702" pitchFamily="82" charset="0"/>
                <a:cs typeface="Times New Roman" panose="02020603050405020304" pitchFamily="18" charset="0"/>
              </a:rPr>
              <a:t>Solution Design</a:t>
            </a:r>
          </a:p>
        </p:txBody>
      </p:sp>
      <p:sp>
        <p:nvSpPr>
          <p:cNvPr id="3" name="Content Placeholder 2">
            <a:extLst>
              <a:ext uri="{FF2B5EF4-FFF2-40B4-BE49-F238E27FC236}">
                <a16:creationId xmlns:a16="http://schemas.microsoft.com/office/drawing/2014/main" id="{6E77542C-676C-4616-8042-1D07436B8F46}"/>
              </a:ext>
            </a:extLst>
          </p:cNvPr>
          <p:cNvSpPr>
            <a:spLocks noGrp="1"/>
          </p:cNvSpPr>
          <p:nvPr>
            <p:ph idx="1"/>
          </p:nvPr>
        </p:nvSpPr>
        <p:spPr>
          <a:xfrm>
            <a:off x="5591695" y="1030147"/>
            <a:ext cx="5798794" cy="4425773"/>
          </a:xfrm>
        </p:spPr>
        <p:txBody>
          <a:bodyPr anchor="ctr">
            <a:normAutofit/>
          </a:bodyPr>
          <a:lstStyle/>
          <a:p>
            <a:r>
              <a:rPr lang="en-US" dirty="0"/>
              <a:t>The system is designed using a Convolutional Neural Network (CNN) trained on the MNIST dataset. The input images are preprocessed and passed through multiple convolutional and pooling layers to extract features. These features are then flattened and sent to fully connected layers for classification. The final output layer uses </a:t>
            </a:r>
            <a:r>
              <a:rPr lang="en-US" dirty="0" err="1"/>
              <a:t>softmax</a:t>
            </a:r>
            <a:r>
              <a:rPr lang="en-US" dirty="0"/>
              <a:t> activation to predict digits from 0 to 9.</a:t>
            </a:r>
          </a:p>
        </p:txBody>
      </p:sp>
    </p:spTree>
    <p:extLst>
      <p:ext uri="{BB962C8B-B14F-4D97-AF65-F5344CB8AC3E}">
        <p14:creationId xmlns:p14="http://schemas.microsoft.com/office/powerpoint/2010/main" val="308195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2218D5-F128-490E-8152-7D32E2A4AAF2}"/>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2400" b="1" dirty="0">
                <a:solidFill>
                  <a:srgbClr val="FFFFFF"/>
                </a:solidFill>
                <a:latin typeface="Algerian" panose="04020705040A02060702" pitchFamily="82" charset="0"/>
                <a:cs typeface="Times New Roman" panose="02020603050405020304" pitchFamily="18" charset="0"/>
              </a:rPr>
              <a:t>Technology Stack &amp; Requirements</a:t>
            </a:r>
          </a:p>
        </p:txBody>
      </p:sp>
      <p:sp>
        <p:nvSpPr>
          <p:cNvPr id="4" name="TextBox 3">
            <a:extLst>
              <a:ext uri="{FF2B5EF4-FFF2-40B4-BE49-F238E27FC236}">
                <a16:creationId xmlns:a16="http://schemas.microsoft.com/office/drawing/2014/main" id="{23EC4A8A-0A31-DB32-01E5-3D6AD9F4B365}"/>
              </a:ext>
            </a:extLst>
          </p:cNvPr>
          <p:cNvSpPr txBox="1"/>
          <p:nvPr/>
        </p:nvSpPr>
        <p:spPr>
          <a:xfrm>
            <a:off x="5553075" y="1209675"/>
            <a:ext cx="6400800" cy="3693319"/>
          </a:xfrm>
          <a:prstGeom prst="rect">
            <a:avLst/>
          </a:prstGeom>
          <a:noFill/>
        </p:spPr>
        <p:txBody>
          <a:bodyPr wrap="square" rtlCol="0">
            <a:spAutoFit/>
          </a:bodyPr>
          <a:lstStyle/>
          <a:p>
            <a:pPr marL="285750" indent="-285750">
              <a:buFont typeface="Arial" panose="020B0604020202020204" pitchFamily="34" charset="0"/>
              <a:buChar char="•"/>
            </a:pPr>
            <a:r>
              <a:rPr lang="en-IN" b="1" u="sng" dirty="0"/>
              <a:t>Programming Language</a:t>
            </a:r>
            <a:r>
              <a:rPr lang="en-IN" b="1" dirty="0"/>
              <a:t>:-</a:t>
            </a:r>
            <a:r>
              <a:rPr lang="en-IN" dirty="0"/>
              <a:t> Python</a:t>
            </a:r>
          </a:p>
          <a:p>
            <a:endParaRPr lang="en-IN" dirty="0"/>
          </a:p>
          <a:p>
            <a:pPr marL="285750" indent="-285750">
              <a:buFont typeface="Arial" panose="020B0604020202020204" pitchFamily="34" charset="0"/>
              <a:buChar char="•"/>
            </a:pPr>
            <a:r>
              <a:rPr lang="en-US" b="1" u="sng" dirty="0"/>
              <a:t>Libraries Used</a:t>
            </a:r>
            <a:r>
              <a:rPr lang="en-US" b="1" dirty="0"/>
              <a:t>:- </a:t>
            </a:r>
            <a:r>
              <a:rPr lang="en-IN" dirty="0"/>
              <a:t>TensorFlow , </a:t>
            </a:r>
            <a:r>
              <a:rPr lang="en-IN" dirty="0" smtClean="0"/>
              <a:t>Keras, NumPy, </a:t>
            </a:r>
            <a:r>
              <a:rPr lang="en-IN" dirty="0"/>
              <a:t>Matplotlib </a:t>
            </a:r>
            <a:r>
              <a:rPr lang="en-IN" dirty="0" smtClean="0"/>
              <a:t>OpenCV, </a:t>
            </a:r>
            <a:r>
              <a:rPr lang="en-IN" dirty="0"/>
              <a:t>Streamlit </a:t>
            </a:r>
            <a:endParaRPr lang="en-IN" dirty="0" smtClean="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u="sng" dirty="0" smtClean="0"/>
              <a:t>Techniques</a:t>
            </a:r>
            <a:r>
              <a:rPr lang="en-IN" b="1" dirty="0"/>
              <a:t>:- </a:t>
            </a:r>
            <a:r>
              <a:rPr lang="en-IN" dirty="0"/>
              <a:t>Image </a:t>
            </a:r>
            <a:r>
              <a:rPr lang="en-IN" dirty="0" smtClean="0"/>
              <a:t>Pre-processing, </a:t>
            </a:r>
            <a:r>
              <a:rPr lang="en-IN" dirty="0"/>
              <a:t>Feature Extraction Deep Learning Model </a:t>
            </a:r>
            <a:r>
              <a:rPr lang="en-IN" dirty="0" smtClean="0"/>
              <a:t>Training </a:t>
            </a:r>
            <a:r>
              <a:rPr lang="en-IN" dirty="0"/>
              <a:t>Techniques Deployment Techniques </a:t>
            </a:r>
            <a:endParaRPr lang="en-IN" dirty="0" smtClean="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b="1" u="sng" dirty="0"/>
              <a:t>System Requirements</a:t>
            </a:r>
            <a:r>
              <a:rPr lang="en-US" b="1" dirty="0"/>
              <a:t>:- </a:t>
            </a:r>
            <a:r>
              <a:rPr lang="en-US" dirty="0"/>
              <a:t> Computer with Python, any IDE (Jupyter/Python)</a:t>
            </a:r>
          </a:p>
          <a:p>
            <a:endParaRPr lang="en-US" dirty="0"/>
          </a:p>
          <a:p>
            <a:pPr marL="285750" indent="-285750">
              <a:buFont typeface="Arial" panose="020B0604020202020204" pitchFamily="34" charset="0"/>
              <a:buChar char="•"/>
            </a:pPr>
            <a:r>
              <a:rPr lang="en-US" b="1" u="sng" dirty="0"/>
              <a:t>Purpose</a:t>
            </a:r>
            <a:r>
              <a:rPr lang="en-US" b="1" dirty="0"/>
              <a:t>:- </a:t>
            </a:r>
            <a:r>
              <a:rPr lang="en-US" dirty="0"/>
              <a:t> To automatically identify handwritten digits (0–9) using machine learning.</a:t>
            </a:r>
            <a:endParaRPr lang="en-IN" dirty="0"/>
          </a:p>
        </p:txBody>
      </p:sp>
    </p:spTree>
    <p:extLst>
      <p:ext uri="{BB962C8B-B14F-4D97-AF65-F5344CB8AC3E}">
        <p14:creationId xmlns:p14="http://schemas.microsoft.com/office/powerpoint/2010/main" val="496619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Five bulbs and one of them is glowing">
            <a:extLst>
              <a:ext uri="{FF2B5EF4-FFF2-40B4-BE49-F238E27FC236}">
                <a16:creationId xmlns:a16="http://schemas.microsoft.com/office/drawing/2014/main" id="{6502B327-023B-19C1-2A07-58822C3EC950}"/>
              </a:ext>
            </a:extLst>
          </p:cNvPr>
          <p:cNvPicPr>
            <a:picLocks noChangeAspect="1"/>
          </p:cNvPicPr>
          <p:nvPr/>
        </p:nvPicPr>
        <p:blipFill>
          <a:blip r:embed="rId2"/>
          <a:srcRect l="20348" r="20317" b="-1"/>
          <a:stretch/>
        </p:blipFill>
        <p:spPr>
          <a:xfrm>
            <a:off x="642" y="10"/>
            <a:ext cx="6096000" cy="6857990"/>
          </a:xfrm>
          <a:prstGeom prst="rect">
            <a:avLst/>
          </a:prstGeom>
        </p:spPr>
      </p:pic>
      <p:sp>
        <p:nvSpPr>
          <p:cNvPr id="2" name="Title 1">
            <a:extLst>
              <a:ext uri="{FF2B5EF4-FFF2-40B4-BE49-F238E27FC236}">
                <a16:creationId xmlns:a16="http://schemas.microsoft.com/office/drawing/2014/main" id="{7AED9BD6-F510-4FEC-BBC3-026270D71F4F}"/>
              </a:ext>
            </a:extLst>
          </p:cNvPr>
          <p:cNvSpPr>
            <a:spLocks noGrp="1"/>
          </p:cNvSpPr>
          <p:nvPr>
            <p:ph type="title"/>
          </p:nvPr>
        </p:nvSpPr>
        <p:spPr>
          <a:xfrm>
            <a:off x="804672" y="2841505"/>
            <a:ext cx="4487298" cy="1174991"/>
          </a:xfrm>
          <a:solidFill>
            <a:schemeClr val="tx1">
              <a:alpha val="60000"/>
            </a:schemeClr>
          </a:solidFill>
          <a:ln>
            <a:solidFill>
              <a:schemeClr val="bg1"/>
            </a:solidFill>
          </a:ln>
        </p:spPr>
        <p:txBody>
          <a:bodyPr>
            <a:normAutofit/>
          </a:bodyPr>
          <a:lstStyle/>
          <a:p>
            <a:r>
              <a:rPr lang="en-IN" sz="2400" dirty="0">
                <a:solidFill>
                  <a:schemeClr val="bg1"/>
                </a:solidFill>
                <a:latin typeface="Times New Roman" panose="02020603050405020304" pitchFamily="18" charset="0"/>
                <a:cs typeface="Times New Roman" panose="02020603050405020304" pitchFamily="18" charset="0"/>
              </a:rPr>
              <a:t>Innovative Idea</a:t>
            </a:r>
          </a:p>
        </p:txBody>
      </p:sp>
      <p:sp>
        <p:nvSpPr>
          <p:cNvPr id="7" name="Rectangle 2">
            <a:extLst>
              <a:ext uri="{FF2B5EF4-FFF2-40B4-BE49-F238E27FC236}">
                <a16:creationId xmlns:a16="http://schemas.microsoft.com/office/drawing/2014/main" id="{50E6DDF1-6599-8649-9BB6-BD7F028EBD1A}"/>
              </a:ext>
            </a:extLst>
          </p:cNvPr>
          <p:cNvSpPr>
            <a:spLocks noGrp="1" noChangeArrowheads="1"/>
          </p:cNvSpPr>
          <p:nvPr>
            <p:ph idx="1"/>
          </p:nvPr>
        </p:nvSpPr>
        <p:spPr bwMode="auto">
          <a:xfrm>
            <a:off x="6179256" y="1422414"/>
            <a:ext cx="6012744" cy="3683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US" sz="2000" dirty="0"/>
              <a:t>Real-time digit prediction using a </a:t>
            </a:r>
            <a:r>
              <a:rPr lang="en-US" sz="2000" b="1" dirty="0"/>
              <a:t>drawing canvas (mouse/touch input</a:t>
            </a:r>
            <a:r>
              <a:rPr lang="en-US" sz="2000" b="1" dirty="0" smtClean="0"/>
              <a:t>).</a:t>
            </a:r>
          </a:p>
          <a:p>
            <a:pPr>
              <a:buFont typeface="Wingdings" panose="05000000000000000000" pitchFamily="2" charset="2"/>
              <a:buChar char="Ø"/>
            </a:pPr>
            <a:r>
              <a:rPr lang="en-US" sz="2000" b="1" dirty="0"/>
              <a:t>Multi-digit recognition</a:t>
            </a:r>
            <a:r>
              <a:rPr lang="en-US" sz="2000" dirty="0"/>
              <a:t> (e.g., recognizing “245” instead of single digit</a:t>
            </a:r>
            <a:r>
              <a:rPr lang="en-US" sz="2000" dirty="0" smtClean="0"/>
              <a:t>).</a:t>
            </a:r>
          </a:p>
          <a:p>
            <a:pPr>
              <a:buFont typeface="Wingdings" panose="05000000000000000000" pitchFamily="2" charset="2"/>
              <a:buChar char="Ø"/>
            </a:pPr>
            <a:r>
              <a:rPr lang="en-US" sz="2000" b="1" dirty="0"/>
              <a:t>Confidence score display</a:t>
            </a:r>
            <a:r>
              <a:rPr lang="en-US" sz="2000" dirty="0"/>
              <a:t> (show how sure the model is, like 98% sure it is “7”)</a:t>
            </a:r>
            <a:r>
              <a:rPr lang="en-US" sz="2000" dirty="0" smtClean="0"/>
              <a:t>.</a:t>
            </a:r>
            <a:endParaRPr lang="en-US" sz="2000" dirty="0"/>
          </a:p>
          <a:p>
            <a:pPr>
              <a:buFont typeface="Wingdings" panose="05000000000000000000" pitchFamily="2" charset="2"/>
              <a:buChar char="Ø"/>
            </a:pPr>
            <a:r>
              <a:rPr lang="en-US" sz="2000" b="1" dirty="0"/>
              <a:t>Handwriting improvement feedback</a:t>
            </a:r>
            <a:r>
              <a:rPr lang="en-US" sz="2000" dirty="0"/>
              <a:t> (suggest better stroke patterns for wrong predictions</a:t>
            </a:r>
            <a:r>
              <a:rPr lang="en-US" sz="2000" dirty="0" smtClean="0"/>
              <a:t>).</a:t>
            </a:r>
          </a:p>
          <a:p>
            <a:pPr>
              <a:buFont typeface="Wingdings" panose="05000000000000000000" pitchFamily="2" charset="2"/>
              <a:buChar char="Ø"/>
            </a:pPr>
            <a:r>
              <a:rPr lang="en-US" sz="2000" b="1" dirty="0"/>
              <a:t>Mobile-friendly AI app</a:t>
            </a:r>
            <a:r>
              <a:rPr lang="en-US" sz="2000" dirty="0"/>
              <a:t> for digit recognition using camera </a:t>
            </a:r>
            <a:r>
              <a:rPr lang="en-US" sz="2000" dirty="0" smtClean="0"/>
              <a:t>capture.</a:t>
            </a:r>
            <a:endParaRPr lang="en-US" sz="2000" dirty="0"/>
          </a:p>
        </p:txBody>
      </p:sp>
    </p:spTree>
    <p:extLst>
      <p:ext uri="{BB962C8B-B14F-4D97-AF65-F5344CB8AC3E}">
        <p14:creationId xmlns:p14="http://schemas.microsoft.com/office/powerpoint/2010/main" val="3463141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EEA8E4-2B1A-430A-A41B-30AE8D1A7E78}"/>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2400" b="1" dirty="0">
                <a:solidFill>
                  <a:srgbClr val="FFFFFF"/>
                </a:solidFill>
                <a:latin typeface="Algerian" panose="04020705040A02060702" pitchFamily="82" charset="0"/>
                <a:cs typeface="Times New Roman" panose="02020603050405020304" pitchFamily="18" charset="0"/>
              </a:rPr>
              <a:t>Results / Outcomes / Analysis</a:t>
            </a:r>
          </a:p>
        </p:txBody>
      </p:sp>
      <p:sp>
        <p:nvSpPr>
          <p:cNvPr id="3" name="Content Placeholder 2">
            <a:extLst>
              <a:ext uri="{FF2B5EF4-FFF2-40B4-BE49-F238E27FC236}">
                <a16:creationId xmlns:a16="http://schemas.microsoft.com/office/drawing/2014/main" id="{FF997BAE-B1B3-43F5-817C-987B4C2A3BFF}"/>
              </a:ext>
            </a:extLst>
          </p:cNvPr>
          <p:cNvSpPr>
            <a:spLocks noGrp="1"/>
          </p:cNvSpPr>
          <p:nvPr>
            <p:ph idx="1"/>
          </p:nvPr>
        </p:nvSpPr>
        <p:spPr>
          <a:xfrm>
            <a:off x="5583432" y="724930"/>
            <a:ext cx="6152591" cy="5049794"/>
          </a:xfrm>
        </p:spPr>
        <p:txBody>
          <a:bodyPr anchor="ctr">
            <a:noAutofit/>
          </a:bodyPr>
          <a:lstStyle/>
          <a:p>
            <a:r>
              <a:rPr lang="en-US" sz="2000" dirty="0"/>
              <a:t>The CNN-based handwritten digit recognition model achieved high accuracy in classifying digits from 0 to 9. The training process showed steady improvement in accuracy and a consistent decrease in loss, indicating that the model learned the patterns of handwritten images effectively</a:t>
            </a:r>
            <a:r>
              <a:rPr lang="en-US" sz="2000" dirty="0" smtClean="0"/>
              <a:t>.</a:t>
            </a:r>
          </a:p>
          <a:p>
            <a:r>
              <a:rPr lang="en-US" sz="2000" dirty="0"/>
              <a:t>The overall performance of the system shows that the CNN model is highly effective for handwritten digit recognition. It successfully learns important image features such as curves and edges, which helps in accurate classification of digits.</a:t>
            </a:r>
          </a:p>
        </p:txBody>
      </p:sp>
    </p:spTree>
    <p:extLst>
      <p:ext uri="{BB962C8B-B14F-4D97-AF65-F5344CB8AC3E}">
        <p14:creationId xmlns:p14="http://schemas.microsoft.com/office/powerpoint/2010/main" val="3130655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A group of yellow figures and a red figure on the other side">
            <a:extLst>
              <a:ext uri="{FF2B5EF4-FFF2-40B4-BE49-F238E27FC236}">
                <a16:creationId xmlns:a16="http://schemas.microsoft.com/office/drawing/2014/main" id="{AF55747E-0BF5-40C6-D4AD-0FF058921801}"/>
              </a:ext>
            </a:extLst>
          </p:cNvPr>
          <p:cNvPicPr>
            <a:picLocks noChangeAspect="1"/>
          </p:cNvPicPr>
          <p:nvPr/>
        </p:nvPicPr>
        <p:blipFill>
          <a:blip r:embed="rId2"/>
          <a:srcRect l="38644" r="2022" b="-1"/>
          <a:stretch/>
        </p:blipFill>
        <p:spPr>
          <a:xfrm>
            <a:off x="642" y="10"/>
            <a:ext cx="6096000" cy="6857990"/>
          </a:xfrm>
          <a:prstGeom prst="rect">
            <a:avLst/>
          </a:prstGeom>
        </p:spPr>
      </p:pic>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804672" y="2841505"/>
            <a:ext cx="4487298" cy="1174991"/>
          </a:xfrm>
          <a:solidFill>
            <a:schemeClr val="tx1">
              <a:alpha val="60000"/>
            </a:schemeClr>
          </a:solidFill>
          <a:ln>
            <a:solidFill>
              <a:schemeClr val="bg1"/>
            </a:solidFill>
          </a:ln>
        </p:spPr>
        <p:txBody>
          <a:bodyPr>
            <a:normAutofit/>
          </a:bodyPr>
          <a:lstStyle/>
          <a:p>
            <a:r>
              <a:rPr lang="en-IN" sz="2400" dirty="0">
                <a:solidFill>
                  <a:schemeClr val="bg1"/>
                </a:solidFill>
              </a:rPr>
              <a:t>Limitations</a:t>
            </a:r>
          </a:p>
        </p:txBody>
      </p:sp>
      <p:sp>
        <p:nvSpPr>
          <p:cNvPr id="3" name="Content Placeholder 2">
            <a:extLst>
              <a:ext uri="{FF2B5EF4-FFF2-40B4-BE49-F238E27FC236}">
                <a16:creationId xmlns:a16="http://schemas.microsoft.com/office/drawing/2014/main" id="{B2658A8F-6943-4E76-8967-55B21E8D3429}"/>
              </a:ext>
            </a:extLst>
          </p:cNvPr>
          <p:cNvSpPr>
            <a:spLocks noGrp="1"/>
          </p:cNvSpPr>
          <p:nvPr>
            <p:ph idx="1"/>
          </p:nvPr>
        </p:nvSpPr>
        <p:spPr>
          <a:xfrm>
            <a:off x="6743941" y="976129"/>
            <a:ext cx="4804931" cy="4919815"/>
          </a:xfrm>
        </p:spPr>
        <p:txBody>
          <a:bodyPr anchor="ctr">
            <a:normAutofit/>
          </a:bodyPr>
          <a:lstStyle/>
          <a:p>
            <a:pPr>
              <a:buFont typeface="Wingdings" panose="05000000000000000000" pitchFamily="2" charset="2"/>
              <a:buChar char="Ø"/>
            </a:pPr>
            <a:r>
              <a:rPr lang="en-US" dirty="0"/>
              <a:t>The model is limited to recognizing only digits (0–9) and cannot handle full handwritten text or letters. It may also struggle with unclear, distorted, or poorly written digits, which can reduce prediction accuracy</a:t>
            </a:r>
            <a:r>
              <a:rPr lang="en-US" dirty="0" smtClean="0"/>
              <a:t>.</a:t>
            </a:r>
          </a:p>
          <a:p>
            <a:pPr>
              <a:buFont typeface="Wingdings" panose="05000000000000000000" pitchFamily="2" charset="2"/>
              <a:buChar char="Ø"/>
            </a:pPr>
            <a:r>
              <a:rPr lang="en-US" dirty="0"/>
              <a:t>The system may also face limitations in real-world environments where noise, lighting variations, or low-resolution images can affect the quality of input and reduce prediction accuracy.</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424759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5445496" y="234670"/>
            <a:ext cx="5925310" cy="1116700"/>
          </a:xfrm>
          <a:solidFill>
            <a:schemeClr val="accent5">
              <a:lumMod val="60000"/>
              <a:lumOff val="40000"/>
            </a:schemeClr>
          </a:solidFill>
        </p:spPr>
        <p:txBody>
          <a:bodyPr>
            <a:normAutofit fontScale="90000"/>
          </a:bodyPr>
          <a:lstStyle/>
          <a:p>
            <a:r>
              <a:rPr lang="en-IN" b="1" dirty="0">
                <a:solidFill>
                  <a:srgbClr val="002060"/>
                </a:solidFill>
                <a:latin typeface="Algerian" panose="04020705040A02060702" pitchFamily="82" charset="0"/>
                <a:cs typeface="Times New Roman" panose="02020603050405020304" pitchFamily="18" charset="0"/>
              </a:rPr>
              <a:t>Future Enhancements/Scope</a:t>
            </a:r>
          </a:p>
        </p:txBody>
      </p:sp>
      <p:pic>
        <p:nvPicPr>
          <p:cNvPr id="5" name="Picture 4" descr="White arrows going to the red target">
            <a:extLst>
              <a:ext uri="{FF2B5EF4-FFF2-40B4-BE49-F238E27FC236}">
                <a16:creationId xmlns:a16="http://schemas.microsoft.com/office/drawing/2014/main" id="{A3EA6280-589F-C0E2-BE2F-BC5FC4617615}"/>
              </a:ext>
            </a:extLst>
          </p:cNvPr>
          <p:cNvPicPr>
            <a:picLocks noChangeAspect="1"/>
          </p:cNvPicPr>
          <p:nvPr/>
        </p:nvPicPr>
        <p:blipFill>
          <a:blip r:embed="rId2"/>
          <a:srcRect l="45161" r="9508" b="-1"/>
          <a:stretch/>
        </p:blipFill>
        <p:spPr>
          <a:xfrm>
            <a:off x="20" y="10"/>
            <a:ext cx="4657325" cy="6857990"/>
          </a:xfrm>
          <a:prstGeom prst="rect">
            <a:avLst/>
          </a:prstGeom>
        </p:spPr>
      </p:pic>
      <p:sp>
        <p:nvSpPr>
          <p:cNvPr id="3" name="Content Placeholder 2">
            <a:extLst>
              <a:ext uri="{FF2B5EF4-FFF2-40B4-BE49-F238E27FC236}">
                <a16:creationId xmlns:a16="http://schemas.microsoft.com/office/drawing/2014/main" id="{B2658A8F-6943-4E76-8967-55B21E8D3429}"/>
              </a:ext>
            </a:extLst>
          </p:cNvPr>
          <p:cNvSpPr>
            <a:spLocks noGrp="1"/>
          </p:cNvSpPr>
          <p:nvPr>
            <p:ph idx="1"/>
          </p:nvPr>
        </p:nvSpPr>
        <p:spPr>
          <a:xfrm>
            <a:off x="5445496" y="1488935"/>
            <a:ext cx="6599748" cy="5058621"/>
          </a:xfrm>
        </p:spPr>
        <p:txBody>
          <a:bodyPr>
            <a:noAutofit/>
          </a:bodyPr>
          <a:lstStyle/>
          <a:p>
            <a:pPr>
              <a:buFont typeface="Wingdings" panose="05000000000000000000" pitchFamily="2" charset="2"/>
              <a:buChar char="Ø"/>
            </a:pPr>
            <a:r>
              <a:rPr lang="en-US" dirty="0"/>
              <a:t>The current system focuses on recognizing single handwritten digits; however, it can be further enhanced to support multi-digit recognition and full handwritten text using advanced Optical Character Recognition (OCR) techniques. The accuracy and performance of the model can be improved by implementing more advanced deep learning architectures such as enhanced CNN models or hybrid approaches. In the future, the system can be developed into a mobile application that allows real-time digit recognition using a camera</a:t>
            </a:r>
            <a:r>
              <a:rPr lang="en-US" dirty="0" smtClean="0"/>
              <a:t>.</a:t>
            </a:r>
          </a:p>
          <a:p>
            <a:pPr>
              <a:buFont typeface="Wingdings" panose="05000000000000000000" pitchFamily="2" charset="2"/>
              <a:buChar char="Ø"/>
            </a:pPr>
            <a:r>
              <a:rPr lang="en-US" dirty="0"/>
              <a:t>Additionally, support for multiple languages and diverse handwriting styles can be incorporated to make the system more robust and user-friendly. The project can also be deployed on cloud platforms to improve accessibility and scalability. Some features, such as real-time drawing input and confidence score visualization, have already been successfully implemented in the current system.</a:t>
            </a:r>
          </a:p>
        </p:txBody>
      </p:sp>
    </p:spTree>
    <p:extLst>
      <p:ext uri="{BB962C8B-B14F-4D97-AF65-F5344CB8AC3E}">
        <p14:creationId xmlns:p14="http://schemas.microsoft.com/office/powerpoint/2010/main" val="816418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3E1C3D-633C-4756-B09B-9AD080714C9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668" y="640080"/>
            <a:ext cx="10915252" cy="5263134"/>
          </a:xfrm>
          <a:prstGeom prst="rect">
            <a:avLst/>
          </a:prstGeom>
          <a:noFill/>
          <a:ln w="317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95DAF8-54BC-4834-A4B1-7DD2F7AFE5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1520" y="802767"/>
            <a:ext cx="10585166" cy="49377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5131FA-8D36-492B-8E16-2BB465AADDDF}"/>
              </a:ext>
            </a:extLst>
          </p:cNvPr>
          <p:cNvSpPr>
            <a:spLocks noGrp="1"/>
          </p:cNvSpPr>
          <p:nvPr>
            <p:ph type="title"/>
          </p:nvPr>
        </p:nvSpPr>
        <p:spPr>
          <a:xfrm>
            <a:off x="1120624" y="1122807"/>
            <a:ext cx="9954443" cy="4297680"/>
          </a:xfrm>
          <a:noFill/>
          <a:ln>
            <a:noFill/>
          </a:ln>
        </p:spPr>
        <p:txBody>
          <a:bodyPr vert="horz" lIns="182880" tIns="182880" rIns="182880" bIns="182880" rtlCol="0" anchor="ctr">
            <a:noAutofit/>
          </a:bodyPr>
          <a:lstStyle/>
          <a:p>
            <a:r>
              <a:rPr lang="en-US" sz="4000" kern="1200" cap="all" spc="200" baseline="0" dirty="0">
                <a:solidFill>
                  <a:srgbClr val="FFFFFF"/>
                </a:solidFill>
                <a:latin typeface="+mj-lt"/>
                <a:ea typeface="+mj-ea"/>
                <a:cs typeface="+mj-cs"/>
              </a:rPr>
              <a:t>GITHUB </a:t>
            </a:r>
            <a:r>
              <a:rPr lang="en-US" sz="4000" kern="1200" cap="all" spc="200" baseline="0" dirty="0" smtClean="0">
                <a:solidFill>
                  <a:srgbClr val="FFFFFF"/>
                </a:solidFill>
                <a:latin typeface="+mj-lt"/>
                <a:ea typeface="+mj-ea"/>
                <a:cs typeface="+mj-cs"/>
              </a:rPr>
              <a:t>LINK-</a:t>
            </a:r>
            <a:br>
              <a:rPr lang="en-US" sz="4000" kern="1200" cap="all" spc="200" baseline="0" dirty="0" smtClean="0">
                <a:solidFill>
                  <a:srgbClr val="FFFFFF"/>
                </a:solidFill>
                <a:latin typeface="+mj-lt"/>
                <a:ea typeface="+mj-ea"/>
                <a:cs typeface="+mj-cs"/>
              </a:rPr>
            </a:br>
            <a:r>
              <a:rPr lang="en-US" sz="4800" dirty="0">
                <a:solidFill>
                  <a:srgbClr val="FFFFFF"/>
                </a:solidFill>
              </a:rPr>
              <a:t/>
            </a:r>
            <a:br>
              <a:rPr lang="en-US" sz="4800" dirty="0">
                <a:solidFill>
                  <a:srgbClr val="FFFFFF"/>
                </a:solidFill>
              </a:rPr>
            </a:br>
            <a:r>
              <a:rPr lang="en-US" sz="4800" kern="1200" cap="all" spc="200" baseline="0" dirty="0">
                <a:solidFill>
                  <a:srgbClr val="FFFFFF"/>
                </a:solidFill>
                <a:latin typeface="+mj-lt"/>
                <a:ea typeface="+mj-ea"/>
                <a:cs typeface="+mj-cs"/>
              </a:rPr>
              <a:t> </a:t>
            </a:r>
            <a:endParaRPr lang="en-US" sz="2000" b="1" kern="1200" cap="all" spc="200" baseline="0" dirty="0">
              <a:solidFill>
                <a:schemeClr val="tx1"/>
              </a:solidFill>
            </a:endParaRPr>
          </a:p>
        </p:txBody>
      </p:sp>
      <p:sp>
        <p:nvSpPr>
          <p:cNvPr id="3" name="Rectangle 2"/>
          <p:cNvSpPr/>
          <p:nvPr/>
        </p:nvSpPr>
        <p:spPr>
          <a:xfrm>
            <a:off x="3048000" y="3105835"/>
            <a:ext cx="6096000" cy="1384995"/>
          </a:xfrm>
          <a:prstGeom prst="rect">
            <a:avLst/>
          </a:prstGeom>
        </p:spPr>
        <p:txBody>
          <a:bodyPr>
            <a:spAutoFit/>
          </a:bodyPr>
          <a:lstStyle/>
          <a:p>
            <a:r>
              <a:rPr lang="en-IN" sz="2800" b="1" dirty="0"/>
              <a:t>https://github.com/KashishGautam31/Handwritten-Digit-Recognition-Deep-Learning</a:t>
            </a:r>
          </a:p>
        </p:txBody>
      </p:sp>
    </p:spTree>
    <p:extLst>
      <p:ext uri="{BB962C8B-B14F-4D97-AF65-F5344CB8AC3E}">
        <p14:creationId xmlns:p14="http://schemas.microsoft.com/office/powerpoint/2010/main" val="2900703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2A9291-55AD-4DDC-8735-1BA5A1C98CC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8A74F5-46D6-41B8-88F6-8920EDCB47B2}"/>
              </a:ext>
            </a:extLst>
          </p:cNvPr>
          <p:cNvSpPr>
            <a:spLocks noGrp="1"/>
          </p:cNvSpPr>
          <p:nvPr>
            <p:ph type="title"/>
          </p:nvPr>
        </p:nvSpPr>
        <p:spPr>
          <a:xfrm>
            <a:off x="1752600" y="2542604"/>
            <a:ext cx="8686800" cy="1772793"/>
          </a:xfrm>
          <a:ln/>
        </p:spPr>
        <p:style>
          <a:lnRef idx="3">
            <a:schemeClr val="lt1"/>
          </a:lnRef>
          <a:fillRef idx="1">
            <a:schemeClr val="accent4"/>
          </a:fillRef>
          <a:effectRef idx="1">
            <a:schemeClr val="accent4"/>
          </a:effectRef>
          <a:fontRef idx="minor">
            <a:schemeClr val="lt1"/>
          </a:fontRef>
        </p:style>
        <p:txBody>
          <a:bodyPr vert="horz" wrap="square" lIns="182880" tIns="182880" rIns="182880" bIns="182880" rtlCol="0" anchor="ctr">
            <a:normAutofit/>
          </a:bodyPr>
          <a:lstStyle/>
          <a:p>
            <a:r>
              <a:rPr lang="en-US" sz="4400" b="1" dirty="0">
                <a:solidFill>
                  <a:srgbClr val="7030A0"/>
                </a:solidFill>
                <a:latin typeface="Algerian" panose="04020705040A02060702" pitchFamily="82" charset="0"/>
                <a:ea typeface="+mj-ea"/>
                <a:cs typeface="Times New Roman" panose="02020603050405020304" pitchFamily="18" charset="0"/>
              </a:rPr>
              <a:t>Thank You</a:t>
            </a:r>
          </a:p>
        </p:txBody>
      </p:sp>
    </p:spTree>
    <p:extLst>
      <p:ext uri="{BB962C8B-B14F-4D97-AF65-F5344CB8AC3E}">
        <p14:creationId xmlns:p14="http://schemas.microsoft.com/office/powerpoint/2010/main" val="372062179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1236</TotalTime>
  <Words>804</Words>
  <Application>Microsoft Office PowerPoint</Application>
  <PresentationFormat>Widescreen</PresentationFormat>
  <Paragraphs>69</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Algerian</vt:lpstr>
      <vt:lpstr>Amasis MT Pro</vt:lpstr>
      <vt:lpstr>Arial</vt:lpstr>
      <vt:lpstr>Bahnschrift SemiBold</vt:lpstr>
      <vt:lpstr>Calibri</vt:lpstr>
      <vt:lpstr>Gill Sans MT</vt:lpstr>
      <vt:lpstr>Times New Roman</vt:lpstr>
      <vt:lpstr>Wingdings</vt:lpstr>
      <vt:lpstr>Parcel</vt:lpstr>
      <vt:lpstr>Deep Learning: Handwritten Digit Recognition</vt:lpstr>
      <vt:lpstr>Smart Recognizers</vt:lpstr>
      <vt:lpstr>Workload Division</vt:lpstr>
      <vt:lpstr>The Background </vt:lpstr>
      <vt:lpstr>Problem Statement</vt:lpstr>
      <vt:lpstr>Proposed Solution</vt:lpstr>
      <vt:lpstr>Solution Design</vt:lpstr>
      <vt:lpstr>Technology Stack &amp; Requirements</vt:lpstr>
      <vt:lpstr>Innovative Idea</vt:lpstr>
      <vt:lpstr>Results / Outcomes / Analysis</vt:lpstr>
      <vt:lpstr>Limitations</vt:lpstr>
      <vt:lpstr>Future Enhancements/Scope</vt:lpstr>
      <vt:lpstr>GITHUB LINK-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Prateek Vashishtha</dc:creator>
  <cp:lastModifiedBy>raj chaudhary</cp:lastModifiedBy>
  <cp:revision>377</cp:revision>
  <dcterms:created xsi:type="dcterms:W3CDTF">2021-11-25T04:17:35Z</dcterms:created>
  <dcterms:modified xsi:type="dcterms:W3CDTF">2026-04-29T05:04:41Z</dcterms:modified>
</cp:coreProperties>
</file>